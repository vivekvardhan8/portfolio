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log₁₀(training FLOP)</c:v>
                </c:pt>
              </c:strCache>
            </c:strRef>
          </c:tx>
          <c:spPr>
            <a:solidFill>
              <a:srgbClr val="0FB5C4"/>
            </a:solidFill>
            <a:ln w="38100" cap="flat">
              <a:solidFill>
                <a:srgbClr val="0FB5C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FB5C4"/>
              </a:solidFill>
              <a:ln w="9525" cap="flat">
                <a:solidFill>
                  <a:srgbClr val="0FB5C4"/>
                </a:solidFill>
                <a:prstDash val="solid"/>
                <a:round/>
              </a:ln>
              <a:effectLst/>
            </c:spPr>
          </c:marker>
          <c:cat>
            <c:multiLvlStrRef>
              <c:f>Sheet1!$A$2:$A$11</c:f>
              <c:multiLvlStrCache>
                <c:ptCount val="10"/>
                <c:lvl>
                  <c:pt idx="0">
                    <c:v>Theseus
(1950)</c:v>
                  </c:pt>
                  <c:pt idx="1">
                    <c:v>Perceptron
(1958)</c:v>
                  </c:pt>
                  <c:pt idx="2">
                    <c:v>Neocognitron
(1980)</c:v>
                  </c:pt>
                  <c:pt idx="3">
                    <c:v>NETtalk
(1987)</c:v>
                  </c:pt>
                  <c:pt idx="4">
                    <c:v>Deep Blue
(1997)</c:v>
                  </c:pt>
                  <c:pt idx="5">
                    <c:v>AlexNet
(2012)</c:v>
                  </c:pt>
                  <c:pt idx="6">
                    <c:v>AlphaGo
(2016)</c:v>
                  </c:pt>
                  <c:pt idx="7">
                    <c:v>Transformer
(2017)</c:v>
                  </c:pt>
                  <c:pt idx="8">
                    <c:v>GPT-3
(2020)</c:v>
                  </c:pt>
                  <c:pt idx="9">
                    <c:v>PaLM
(2022)</c:v>
                  </c:pt>
                </c:lvl>
              </c:multiLvlStrCache>
            </c:multiLvlStrRef>
          </c:cat>
          <c:val>
            <c:numRef>
              <c:f>Sheet1!$B$2:$B$11</c:f>
              <c:numCache>
                <c:formatCode>General</c:formatCode>
                <c:ptCount val="10"/>
                <c:pt idx="0">
                  <c:v>1</c:v>
                </c:pt>
                <c:pt idx="1">
                  <c:v>3</c:v>
                </c:pt>
                <c:pt idx="2">
                  <c:v>6</c:v>
                </c:pt>
                <c:pt idx="3">
                  <c:v>8</c:v>
                </c:pt>
                <c:pt idx="4">
                  <c:v>11</c:v>
                </c:pt>
                <c:pt idx="5">
                  <c:v>15.7</c:v>
                </c:pt>
                <c:pt idx="6">
                  <c:v>18.5</c:v>
                </c:pt>
                <c:pt idx="7">
                  <c:v>19</c:v>
                </c:pt>
                <c:pt idx="8">
                  <c:v>22.5</c:v>
                </c:pt>
                <c:pt idx="9">
                  <c:v>24.4</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sz="1000" b="0" i="0" u="none" strike="noStrike">
                    <a:solidFill>
                      <a:srgbClr val="5B6B8C"/>
                    </a:solidFill>
                    <a:latin typeface="Arial"/>
                  </a:defRPr>
                </a:pPr>
                <a:r>
                  <a:rPr sz="1000" b="0" i="0" u="none" strike="noStrike">
                    <a:solidFill>
                      <a:srgbClr val="5B6B8C"/>
                    </a:solidFill>
                    <a:latin typeface="Arial"/>
                  </a:rPr>
                  <a:t>log₁₀ FLOP (higher = exponentially more compute)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C"/>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10607040" y="914400"/>
            <a:ext cx="54864" cy="54864"/>
          </a:xfrm>
          <a:prstGeom prst="ellipse">
            <a:avLst/>
          </a:prstGeom>
          <a:solidFill>
            <a:srgbClr val="0FB5C4"/>
          </a:solidFill>
          <a:ln/>
        </p:spPr>
      </p:sp>
      <p:sp>
        <p:nvSpPr>
          <p:cNvPr id="3" name="Shape 1"/>
          <p:cNvSpPr/>
          <p:nvPr/>
        </p:nvSpPr>
        <p:spPr>
          <a:xfrm>
            <a:off x="11247120" y="1554480"/>
            <a:ext cx="54864" cy="54864"/>
          </a:xfrm>
          <a:prstGeom prst="ellipse">
            <a:avLst/>
          </a:prstGeom>
          <a:solidFill>
            <a:srgbClr val="0FB5C4"/>
          </a:solidFill>
          <a:ln/>
        </p:spPr>
      </p:sp>
      <p:sp>
        <p:nvSpPr>
          <p:cNvPr id="4" name="Shape 2"/>
          <p:cNvSpPr/>
          <p:nvPr/>
        </p:nvSpPr>
        <p:spPr>
          <a:xfrm>
            <a:off x="9966960" y="1645920"/>
            <a:ext cx="54864" cy="54864"/>
          </a:xfrm>
          <a:prstGeom prst="ellipse">
            <a:avLst/>
          </a:prstGeom>
          <a:solidFill>
            <a:srgbClr val="0FB5C4"/>
          </a:solidFill>
          <a:ln/>
        </p:spPr>
      </p:sp>
      <p:sp>
        <p:nvSpPr>
          <p:cNvPr id="5" name="Shape 3"/>
          <p:cNvSpPr/>
          <p:nvPr/>
        </p:nvSpPr>
        <p:spPr>
          <a:xfrm>
            <a:off x="11521440" y="548640"/>
            <a:ext cx="54864" cy="54864"/>
          </a:xfrm>
          <a:prstGeom prst="ellipse">
            <a:avLst/>
          </a:prstGeom>
          <a:solidFill>
            <a:srgbClr val="0FB5C4"/>
          </a:solidFill>
          <a:ln/>
        </p:spPr>
      </p:sp>
      <p:sp>
        <p:nvSpPr>
          <p:cNvPr id="6" name="Shape 4"/>
          <p:cNvSpPr/>
          <p:nvPr/>
        </p:nvSpPr>
        <p:spPr>
          <a:xfrm>
            <a:off x="822960" y="5760720"/>
            <a:ext cx="54864" cy="54864"/>
          </a:xfrm>
          <a:prstGeom prst="ellipse">
            <a:avLst/>
          </a:prstGeom>
          <a:solidFill>
            <a:srgbClr val="0FB5C4"/>
          </a:solidFill>
          <a:ln/>
        </p:spPr>
      </p:sp>
      <p:sp>
        <p:nvSpPr>
          <p:cNvPr id="7" name="Shape 5"/>
          <p:cNvSpPr/>
          <p:nvPr/>
        </p:nvSpPr>
        <p:spPr>
          <a:xfrm>
            <a:off x="1463040" y="6217920"/>
            <a:ext cx="54864" cy="54864"/>
          </a:xfrm>
          <a:prstGeom prst="ellipse">
            <a:avLst/>
          </a:prstGeom>
          <a:solidFill>
            <a:srgbClr val="0FB5C4"/>
          </a:solidFill>
          <a:ln/>
        </p:spPr>
      </p:sp>
      <p:sp>
        <p:nvSpPr>
          <p:cNvPr id="8" name="Shape 6"/>
          <p:cNvSpPr/>
          <p:nvPr/>
        </p:nvSpPr>
        <p:spPr>
          <a:xfrm>
            <a:off x="457200" y="5212080"/>
            <a:ext cx="54864" cy="54864"/>
          </a:xfrm>
          <a:prstGeom prst="ellipse">
            <a:avLst/>
          </a:prstGeom>
          <a:solidFill>
            <a:srgbClr val="0FB5C4"/>
          </a:solidFill>
          <a:ln/>
        </p:spPr>
      </p:sp>
      <p:sp>
        <p:nvSpPr>
          <p:cNvPr id="9" name="Shape 7"/>
          <p:cNvSpPr/>
          <p:nvPr/>
        </p:nvSpPr>
        <p:spPr>
          <a:xfrm>
            <a:off x="822960" y="777240"/>
            <a:ext cx="822960" cy="822960"/>
          </a:xfrm>
          <a:prstGeom prst="ellipse">
            <a:avLst/>
          </a:prstGeom>
          <a:solidFill>
            <a:srgbClr val="13294B"/>
          </a:solidFill>
          <a:ln/>
        </p:spPr>
      </p:sp>
      <p:pic>
        <p:nvPicPr>
          <p:cNvPr id="10" name="Image 0" descr="preencoded.png">    </p:cNvPr>
          <p:cNvPicPr>
            <a:picLocks noChangeAspect="1"/>
          </p:cNvPicPr>
          <p:nvPr/>
        </p:nvPicPr>
        <p:blipFill>
          <a:blip r:embed="rId1"/>
          <a:stretch>
            <a:fillRect/>
          </a:stretch>
        </p:blipFill>
        <p:spPr>
          <a:xfrm>
            <a:off x="929945" y="884225"/>
            <a:ext cx="608990" cy="608990"/>
          </a:xfrm>
          <a:prstGeom prst="rect">
            <a:avLst/>
          </a:prstGeom>
        </p:spPr>
      </p:pic>
      <p:sp>
        <p:nvSpPr>
          <p:cNvPr id="11" name="Text 8"/>
          <p:cNvSpPr/>
          <p:nvPr/>
        </p:nvSpPr>
        <p:spPr>
          <a:xfrm>
            <a:off x="822960" y="1874520"/>
            <a:ext cx="8229600" cy="365760"/>
          </a:xfrm>
          <a:prstGeom prst="rect">
            <a:avLst/>
          </a:prstGeom>
          <a:noFill/>
          <a:ln/>
        </p:spPr>
        <p:txBody>
          <a:bodyPr wrap="square" lIns="0" tIns="0" rIns="0" bIns="0" rtlCol="0" anchor="ctr"/>
          <a:lstStyle/>
          <a:p>
            <a:pPr indent="0" marL="0">
              <a:buNone/>
            </a:pPr>
            <a:r>
              <a:rPr lang="en-US" sz="1400" b="1" spc="300" kern="0" dirty="0">
                <a:solidFill>
                  <a:srgbClr val="0FB5C4"/>
                </a:solidFill>
                <a:latin typeface="Calibri" pitchFamily="34" charset="0"/>
                <a:ea typeface="Calibri" pitchFamily="34" charset="-122"/>
                <a:cs typeface="Calibri" pitchFamily="34" charset="-120"/>
              </a:rPr>
              <a:t>MACHINE LEARNING FUNDAMENTALS</a:t>
            </a:r>
            <a:endParaRPr lang="en-US" sz="1400" dirty="0"/>
          </a:p>
        </p:txBody>
      </p:sp>
      <p:sp>
        <p:nvSpPr>
          <p:cNvPr id="12" name="Text 9"/>
          <p:cNvSpPr/>
          <p:nvPr/>
        </p:nvSpPr>
        <p:spPr>
          <a:xfrm>
            <a:off x="822960" y="2286000"/>
            <a:ext cx="10332720" cy="13716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The Evolution of Artificial Intelligence</a:t>
            </a:r>
            <a:endParaRPr lang="en-US" sz="4400" dirty="0"/>
          </a:p>
        </p:txBody>
      </p:sp>
      <p:sp>
        <p:nvSpPr>
          <p:cNvPr id="13" name="Text 10"/>
          <p:cNvSpPr/>
          <p:nvPr/>
        </p:nvSpPr>
        <p:spPr>
          <a:xfrm>
            <a:off x="822960" y="3520440"/>
            <a:ext cx="9601200" cy="548640"/>
          </a:xfrm>
          <a:prstGeom prst="rect">
            <a:avLst/>
          </a:prstGeom>
          <a:noFill/>
          <a:ln/>
        </p:spPr>
        <p:txBody>
          <a:bodyPr wrap="square" lIns="0" tIns="0" rIns="0" bIns="0" rtlCol="0" anchor="ctr"/>
          <a:lstStyle/>
          <a:p>
            <a:pPr indent="0" marL="0">
              <a:buNone/>
            </a:pPr>
            <a:r>
              <a:rPr lang="en-US" sz="2000" i="1" dirty="0">
                <a:solidFill>
                  <a:srgbClr val="CFE8F3"/>
                </a:solidFill>
                <a:latin typeface="Calibri" pitchFamily="34" charset="0"/>
                <a:ea typeface="Calibri" pitchFamily="34" charset="-122"/>
                <a:cs typeface="Calibri" pitchFamily="34" charset="-120"/>
              </a:rPr>
              <a:t>From Turing's Wartime Machine to the Age of Generative AI</a:t>
            </a:r>
            <a:endParaRPr lang="en-US" sz="2000" dirty="0"/>
          </a:p>
        </p:txBody>
      </p:sp>
      <p:sp>
        <p:nvSpPr>
          <p:cNvPr id="14" name="Shape 11"/>
          <p:cNvSpPr/>
          <p:nvPr/>
        </p:nvSpPr>
        <p:spPr>
          <a:xfrm>
            <a:off x="822960" y="4251960"/>
            <a:ext cx="2011680" cy="0"/>
          </a:xfrm>
          <a:prstGeom prst="line">
            <a:avLst/>
          </a:prstGeom>
          <a:noFill/>
          <a:ln w="38100">
            <a:solidFill>
              <a:srgbClr val="FF7A30"/>
            </a:solidFill>
            <a:prstDash val="solid"/>
          </a:ln>
        </p:spPr>
      </p:sp>
      <p:sp>
        <p:nvSpPr>
          <p:cNvPr id="15" name="Text 12"/>
          <p:cNvSpPr/>
          <p:nvPr/>
        </p:nvSpPr>
        <p:spPr>
          <a:xfrm>
            <a:off x="822960" y="4434840"/>
            <a:ext cx="9601200" cy="457200"/>
          </a:xfrm>
          <a:prstGeom prst="rect">
            <a:avLst/>
          </a:prstGeom>
          <a:noFill/>
          <a:ln/>
        </p:spPr>
        <p:txBody>
          <a:bodyPr wrap="square" lIns="0" tIns="0" rIns="0" bIns="0" rtlCol="0" anchor="ctr"/>
          <a:lstStyle/>
          <a:p>
            <a:pPr indent="0" marL="0">
              <a:buNone/>
            </a:pPr>
            <a:r>
              <a:rPr lang="en-US" sz="1400" dirty="0">
                <a:solidFill>
                  <a:srgbClr val="9FB3D1"/>
                </a:solidFill>
                <a:latin typeface="Calibri" pitchFamily="34" charset="0"/>
                <a:ea typeface="Calibri" pitchFamily="34" charset="-122"/>
                <a:cs typeface="Calibri" pitchFamily="34" charset="-120"/>
              </a:rPr>
              <a:t>A Visual Timeline: Historical Milestones · AI Winters · The Deep Learning Revolution</a:t>
            </a:r>
            <a:endParaRPr lang="en-US" sz="1400" dirty="0"/>
          </a:p>
        </p:txBody>
      </p:sp>
      <p:sp>
        <p:nvSpPr>
          <p:cNvPr id="16" name="Text 13"/>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6E85AD"/>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lIns="0" tIns="0" rIns="0" bIns="0" rtlCol="0" anchor="ctr"/>
          <a:lstStyle/>
          <a:p>
            <a:pPr indent="0" marL="0">
              <a:buNone/>
            </a:pPr>
            <a:r>
              <a:rPr lang="en-US" sz="1300" b="1" spc="200" kern="0" dirty="0">
                <a:solidFill>
                  <a:srgbClr val="0FB5C4"/>
                </a:solidFill>
                <a:latin typeface="Calibri" pitchFamily="34" charset="0"/>
                <a:ea typeface="Calibri" pitchFamily="34" charset="-122"/>
                <a:cs typeface="Calibri" pitchFamily="34" charset="-120"/>
              </a:rPr>
              <a:t>ROADMAP</a:t>
            </a:r>
            <a:endParaRPr lang="en-US" sz="1300" dirty="0"/>
          </a:p>
        </p:txBody>
      </p:sp>
      <p:sp>
        <p:nvSpPr>
          <p:cNvPr id="3" name="Text 1"/>
          <p:cNvSpPr/>
          <p:nvPr/>
        </p:nvSpPr>
        <p:spPr>
          <a:xfrm>
            <a:off x="640080" y="777240"/>
            <a:ext cx="10515600" cy="64008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Four Eras of an Intelligent Machine</a:t>
            </a:r>
            <a:endParaRPr lang="en-US" sz="3200" dirty="0"/>
          </a:p>
        </p:txBody>
      </p:sp>
      <p:sp>
        <p:nvSpPr>
          <p:cNvPr id="4" name="Shape 2"/>
          <p:cNvSpPr/>
          <p:nvPr/>
        </p:nvSpPr>
        <p:spPr>
          <a:xfrm>
            <a:off x="640080" y="1737360"/>
            <a:ext cx="10881360" cy="960120"/>
          </a:xfrm>
          <a:prstGeom prst="roundRect">
            <a:avLst>
              <a:gd name="adj" fmla="val 7619"/>
            </a:avLst>
          </a:prstGeom>
          <a:solidFill>
            <a:srgbClr val="F3F6FA"/>
          </a:solidFill>
          <a:ln/>
          <a:effectLst>
            <a:outerShdw sx="100000" sy="100000" kx="0" ky="0" algn="bl" rotWithShape="0" blurRad="127000" dist="38100" dir="2700000">
              <a:srgbClr val="0B1F3A">
                <a:alpha val="12000"/>
              </a:srgbClr>
            </a:outerShdw>
          </a:effectLst>
        </p:spPr>
      </p:sp>
      <p:sp>
        <p:nvSpPr>
          <p:cNvPr id="5" name="Shape 3"/>
          <p:cNvSpPr/>
          <p:nvPr/>
        </p:nvSpPr>
        <p:spPr>
          <a:xfrm>
            <a:off x="914400" y="1920240"/>
            <a:ext cx="594360" cy="59436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991667" y="1997507"/>
            <a:ext cx="439826" cy="439826"/>
          </a:xfrm>
          <a:prstGeom prst="rect">
            <a:avLst/>
          </a:prstGeom>
        </p:spPr>
      </p:pic>
      <p:sp>
        <p:nvSpPr>
          <p:cNvPr id="7" name="Text 4"/>
          <p:cNvSpPr/>
          <p:nvPr/>
        </p:nvSpPr>
        <p:spPr>
          <a:xfrm>
            <a:off x="1828800" y="1847088"/>
            <a:ext cx="8778240" cy="365760"/>
          </a:xfrm>
          <a:prstGeom prst="rect">
            <a:avLst/>
          </a:prstGeom>
          <a:noFill/>
          <a:ln/>
        </p:spPr>
        <p:txBody>
          <a:bodyPr wrap="square" lIns="0" tIns="0" rIns="0" bIns="0" rtlCol="0" anchor="ctr"/>
          <a:lstStyle/>
          <a:p>
            <a:pPr indent="0" marL="0">
              <a:buNone/>
            </a:pPr>
            <a:r>
              <a:rPr lang="en-US" sz="1700" b="1" dirty="0">
                <a:solidFill>
                  <a:srgbClr val="16213E"/>
                </a:solidFill>
                <a:latin typeface="Calibri" pitchFamily="34" charset="0"/>
                <a:ea typeface="Calibri" pitchFamily="34" charset="-122"/>
                <a:cs typeface="Calibri" pitchFamily="34" charset="-120"/>
              </a:rPr>
              <a:t>1. Foundations (1950s–73)</a:t>
            </a:r>
            <a:endParaRPr lang="en-US" sz="1700" dirty="0"/>
          </a:p>
        </p:txBody>
      </p:sp>
      <p:sp>
        <p:nvSpPr>
          <p:cNvPr id="8" name="Text 5"/>
          <p:cNvSpPr/>
          <p:nvPr/>
        </p:nvSpPr>
        <p:spPr>
          <a:xfrm>
            <a:off x="1828800" y="2212848"/>
            <a:ext cx="9052560" cy="411480"/>
          </a:xfrm>
          <a:prstGeom prst="rect">
            <a:avLst/>
          </a:prstGeom>
          <a:noFill/>
          <a:ln/>
        </p:spPr>
        <p:txBody>
          <a:bodyPr wrap="square" lIns="0" tIns="0" rIns="0" bIns="0" rtlCol="0" anchor="ctr"/>
          <a:lstStyle/>
          <a:p>
            <a:pPr indent="0" marL="0">
              <a:buNone/>
            </a:pPr>
            <a:r>
              <a:rPr lang="en-US" sz="1250" dirty="0">
                <a:solidFill>
                  <a:srgbClr val="5B6B8C"/>
                </a:solidFill>
                <a:latin typeface="Calibri" pitchFamily="34" charset="0"/>
                <a:ea typeface="Calibri" pitchFamily="34" charset="-122"/>
                <a:cs typeface="Calibri" pitchFamily="34" charset="-120"/>
              </a:rPr>
              <a:t>Turing's question, the birth of computing hardware, and the Dartmouth Conference.</a:t>
            </a:r>
            <a:endParaRPr lang="en-US" sz="1250" dirty="0"/>
          </a:p>
        </p:txBody>
      </p:sp>
      <p:sp>
        <p:nvSpPr>
          <p:cNvPr id="9" name="Shape 6"/>
          <p:cNvSpPr/>
          <p:nvPr/>
        </p:nvSpPr>
        <p:spPr>
          <a:xfrm>
            <a:off x="640080" y="2880360"/>
            <a:ext cx="10881360" cy="960120"/>
          </a:xfrm>
          <a:prstGeom prst="roundRect">
            <a:avLst>
              <a:gd name="adj" fmla="val 7619"/>
            </a:avLst>
          </a:prstGeom>
          <a:solidFill>
            <a:srgbClr val="F3F6FA"/>
          </a:solidFill>
          <a:ln/>
          <a:effectLst>
            <a:outerShdw sx="100000" sy="100000" kx="0" ky="0" algn="bl" rotWithShape="0" blurRad="127000" dist="38100" dir="2700000">
              <a:srgbClr val="0B1F3A">
                <a:alpha val="12000"/>
              </a:srgbClr>
            </a:outerShdw>
          </a:effectLst>
        </p:spPr>
      </p:sp>
      <p:sp>
        <p:nvSpPr>
          <p:cNvPr id="10" name="Shape 7"/>
          <p:cNvSpPr/>
          <p:nvPr/>
        </p:nvSpPr>
        <p:spPr>
          <a:xfrm>
            <a:off x="914400" y="3063240"/>
            <a:ext cx="594360" cy="594360"/>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991667" y="3140507"/>
            <a:ext cx="439826" cy="439826"/>
          </a:xfrm>
          <a:prstGeom prst="rect">
            <a:avLst/>
          </a:prstGeom>
        </p:spPr>
      </p:pic>
      <p:sp>
        <p:nvSpPr>
          <p:cNvPr id="12" name="Text 8"/>
          <p:cNvSpPr/>
          <p:nvPr/>
        </p:nvSpPr>
        <p:spPr>
          <a:xfrm>
            <a:off x="1828800" y="2990088"/>
            <a:ext cx="8778240" cy="365760"/>
          </a:xfrm>
          <a:prstGeom prst="rect">
            <a:avLst/>
          </a:prstGeom>
          <a:noFill/>
          <a:ln/>
        </p:spPr>
        <p:txBody>
          <a:bodyPr wrap="square" lIns="0" tIns="0" rIns="0" bIns="0" rtlCol="0" anchor="ctr"/>
          <a:lstStyle/>
          <a:p>
            <a:pPr indent="0" marL="0">
              <a:buNone/>
            </a:pPr>
            <a:r>
              <a:rPr lang="en-US" sz="1700" b="1" dirty="0">
                <a:solidFill>
                  <a:srgbClr val="16213E"/>
                </a:solidFill>
                <a:latin typeface="Calibri" pitchFamily="34" charset="0"/>
                <a:ea typeface="Calibri" pitchFamily="34" charset="-122"/>
                <a:cs typeface="Calibri" pitchFamily="34" charset="-120"/>
              </a:rPr>
              <a:t>2. The AI Winters (1974–93)</a:t>
            </a:r>
            <a:endParaRPr lang="en-US" sz="1700" dirty="0"/>
          </a:p>
        </p:txBody>
      </p:sp>
      <p:sp>
        <p:nvSpPr>
          <p:cNvPr id="13" name="Text 9"/>
          <p:cNvSpPr/>
          <p:nvPr/>
        </p:nvSpPr>
        <p:spPr>
          <a:xfrm>
            <a:off x="1828800" y="3355848"/>
            <a:ext cx="9052560" cy="411480"/>
          </a:xfrm>
          <a:prstGeom prst="rect">
            <a:avLst/>
          </a:prstGeom>
          <a:noFill/>
          <a:ln/>
        </p:spPr>
        <p:txBody>
          <a:bodyPr wrap="square" lIns="0" tIns="0" rIns="0" bIns="0" rtlCol="0" anchor="ctr"/>
          <a:lstStyle/>
          <a:p>
            <a:pPr indent="0" marL="0">
              <a:buNone/>
            </a:pPr>
            <a:r>
              <a:rPr lang="en-US" sz="1250" dirty="0">
                <a:solidFill>
                  <a:srgbClr val="5B6B8C"/>
                </a:solidFill>
                <a:latin typeface="Calibri" pitchFamily="34" charset="0"/>
                <a:ea typeface="Calibri" pitchFamily="34" charset="-122"/>
                <a:cs typeface="Calibri" pitchFamily="34" charset="-120"/>
              </a:rPr>
              <a:t>Two long freezes in funding and enthusiasm — and what caused them.</a:t>
            </a:r>
            <a:endParaRPr lang="en-US" sz="1250" dirty="0"/>
          </a:p>
        </p:txBody>
      </p:sp>
      <p:sp>
        <p:nvSpPr>
          <p:cNvPr id="14" name="Shape 10"/>
          <p:cNvSpPr/>
          <p:nvPr/>
        </p:nvSpPr>
        <p:spPr>
          <a:xfrm>
            <a:off x="640080" y="4023360"/>
            <a:ext cx="10881360" cy="960120"/>
          </a:xfrm>
          <a:prstGeom prst="roundRect">
            <a:avLst>
              <a:gd name="adj" fmla="val 7619"/>
            </a:avLst>
          </a:prstGeom>
          <a:solidFill>
            <a:srgbClr val="F3F6FA"/>
          </a:solidFill>
          <a:ln/>
          <a:effectLst>
            <a:outerShdw sx="100000" sy="100000" kx="0" ky="0" algn="bl" rotWithShape="0" blurRad="127000" dist="38100" dir="2700000">
              <a:srgbClr val="0B1F3A">
                <a:alpha val="12000"/>
              </a:srgbClr>
            </a:outerShdw>
          </a:effectLst>
        </p:spPr>
      </p:sp>
      <p:sp>
        <p:nvSpPr>
          <p:cNvPr id="15" name="Shape 11"/>
          <p:cNvSpPr/>
          <p:nvPr/>
        </p:nvSpPr>
        <p:spPr>
          <a:xfrm>
            <a:off x="914400" y="4206240"/>
            <a:ext cx="594360" cy="59436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991667" y="4283507"/>
            <a:ext cx="439826" cy="439826"/>
          </a:xfrm>
          <a:prstGeom prst="rect">
            <a:avLst/>
          </a:prstGeom>
        </p:spPr>
      </p:pic>
      <p:sp>
        <p:nvSpPr>
          <p:cNvPr id="17" name="Text 12"/>
          <p:cNvSpPr/>
          <p:nvPr/>
        </p:nvSpPr>
        <p:spPr>
          <a:xfrm>
            <a:off x="1828800" y="4133088"/>
            <a:ext cx="8778240" cy="365760"/>
          </a:xfrm>
          <a:prstGeom prst="rect">
            <a:avLst/>
          </a:prstGeom>
          <a:noFill/>
          <a:ln/>
        </p:spPr>
        <p:txBody>
          <a:bodyPr wrap="square" lIns="0" tIns="0" rIns="0" bIns="0" rtlCol="0" anchor="ctr"/>
          <a:lstStyle/>
          <a:p>
            <a:pPr indent="0" marL="0">
              <a:buNone/>
            </a:pPr>
            <a:r>
              <a:rPr lang="en-US" sz="1700" b="1" dirty="0">
                <a:solidFill>
                  <a:srgbClr val="16213E"/>
                </a:solidFill>
                <a:latin typeface="Calibri" pitchFamily="34" charset="0"/>
                <a:ea typeface="Calibri" pitchFamily="34" charset="-122"/>
                <a:cs typeface="Calibri" pitchFamily="34" charset="-120"/>
              </a:rPr>
              <a:t>3. The Deep Learning Revolution (1986–2017)</a:t>
            </a:r>
            <a:endParaRPr lang="en-US" sz="1700" dirty="0"/>
          </a:p>
        </p:txBody>
      </p:sp>
      <p:sp>
        <p:nvSpPr>
          <p:cNvPr id="18" name="Text 13"/>
          <p:cNvSpPr/>
          <p:nvPr/>
        </p:nvSpPr>
        <p:spPr>
          <a:xfrm>
            <a:off x="1828800" y="4498848"/>
            <a:ext cx="9052560" cy="411480"/>
          </a:xfrm>
          <a:prstGeom prst="rect">
            <a:avLst/>
          </a:prstGeom>
          <a:noFill/>
          <a:ln/>
        </p:spPr>
        <p:txBody>
          <a:bodyPr wrap="square" lIns="0" tIns="0" rIns="0" bIns="0" rtlCol="0" anchor="ctr"/>
          <a:lstStyle/>
          <a:p>
            <a:pPr indent="0" marL="0">
              <a:buNone/>
            </a:pPr>
            <a:r>
              <a:rPr lang="en-US" sz="1250" dirty="0">
                <a:solidFill>
                  <a:srgbClr val="5B6B8C"/>
                </a:solidFill>
                <a:latin typeface="Calibri" pitchFamily="34" charset="0"/>
                <a:ea typeface="Calibri" pitchFamily="34" charset="-122"/>
                <a:cs typeface="Calibri" pitchFamily="34" charset="-120"/>
              </a:rPr>
              <a:t>Backpropagation, big data, GPUs, and the 2012 “Big Bang” of modern AI.</a:t>
            </a:r>
            <a:endParaRPr lang="en-US" sz="1250" dirty="0"/>
          </a:p>
        </p:txBody>
      </p:sp>
      <p:sp>
        <p:nvSpPr>
          <p:cNvPr id="19" name="Shape 14"/>
          <p:cNvSpPr/>
          <p:nvPr/>
        </p:nvSpPr>
        <p:spPr>
          <a:xfrm>
            <a:off x="640080" y="5166360"/>
            <a:ext cx="10881360" cy="960120"/>
          </a:xfrm>
          <a:prstGeom prst="roundRect">
            <a:avLst>
              <a:gd name="adj" fmla="val 7619"/>
            </a:avLst>
          </a:prstGeom>
          <a:solidFill>
            <a:srgbClr val="F3F6FA"/>
          </a:solidFill>
          <a:ln/>
          <a:effectLst>
            <a:outerShdw sx="100000" sy="100000" kx="0" ky="0" algn="bl" rotWithShape="0" blurRad="127000" dist="38100" dir="2700000">
              <a:srgbClr val="0B1F3A">
                <a:alpha val="12000"/>
              </a:srgbClr>
            </a:outerShdw>
          </a:effectLst>
        </p:spPr>
      </p:sp>
      <p:sp>
        <p:nvSpPr>
          <p:cNvPr id="20" name="Shape 15"/>
          <p:cNvSpPr/>
          <p:nvPr/>
        </p:nvSpPr>
        <p:spPr>
          <a:xfrm>
            <a:off x="914400" y="5349240"/>
            <a:ext cx="594360" cy="594360"/>
          </a:xfrm>
          <a:prstGeom prst="ellipse">
            <a:avLst/>
          </a:prstGeom>
          <a:solidFill>
            <a:srgbClr val="FFFFFF"/>
          </a:solidFill>
          <a:ln/>
        </p:spPr>
      </p:sp>
      <p:pic>
        <p:nvPicPr>
          <p:cNvPr id="21" name="Image 3" descr="preencoded.png">    </p:cNvPr>
          <p:cNvPicPr>
            <a:picLocks noChangeAspect="1"/>
          </p:cNvPicPr>
          <p:nvPr/>
        </p:nvPicPr>
        <p:blipFill>
          <a:blip r:embed="rId4"/>
          <a:stretch>
            <a:fillRect/>
          </a:stretch>
        </p:blipFill>
        <p:spPr>
          <a:xfrm>
            <a:off x="991667" y="5426507"/>
            <a:ext cx="439826" cy="439826"/>
          </a:xfrm>
          <a:prstGeom prst="rect">
            <a:avLst/>
          </a:prstGeom>
        </p:spPr>
      </p:pic>
      <p:sp>
        <p:nvSpPr>
          <p:cNvPr id="22" name="Text 16"/>
          <p:cNvSpPr/>
          <p:nvPr/>
        </p:nvSpPr>
        <p:spPr>
          <a:xfrm>
            <a:off x="1828800" y="5276088"/>
            <a:ext cx="8778240" cy="365760"/>
          </a:xfrm>
          <a:prstGeom prst="rect">
            <a:avLst/>
          </a:prstGeom>
          <a:noFill/>
          <a:ln/>
        </p:spPr>
        <p:txBody>
          <a:bodyPr wrap="square" lIns="0" tIns="0" rIns="0" bIns="0" rtlCol="0" anchor="ctr"/>
          <a:lstStyle/>
          <a:p>
            <a:pPr indent="0" marL="0">
              <a:buNone/>
            </a:pPr>
            <a:r>
              <a:rPr lang="en-US" sz="1700" b="1" dirty="0">
                <a:solidFill>
                  <a:srgbClr val="16213E"/>
                </a:solidFill>
                <a:latin typeface="Calibri" pitchFamily="34" charset="0"/>
                <a:ea typeface="Calibri" pitchFamily="34" charset="-122"/>
                <a:cs typeface="Calibri" pitchFamily="34" charset="-120"/>
              </a:rPr>
              <a:t>4. Recent Successes &amp; the Future</a:t>
            </a:r>
            <a:endParaRPr lang="en-US" sz="1700" dirty="0"/>
          </a:p>
        </p:txBody>
      </p:sp>
      <p:sp>
        <p:nvSpPr>
          <p:cNvPr id="23" name="Text 17"/>
          <p:cNvSpPr/>
          <p:nvPr/>
        </p:nvSpPr>
        <p:spPr>
          <a:xfrm>
            <a:off x="1828800" y="5641848"/>
            <a:ext cx="9052560" cy="411480"/>
          </a:xfrm>
          <a:prstGeom prst="rect">
            <a:avLst/>
          </a:prstGeom>
          <a:noFill/>
          <a:ln/>
        </p:spPr>
        <p:txBody>
          <a:bodyPr wrap="square" lIns="0" tIns="0" rIns="0" bIns="0" rtlCol="0" anchor="ctr"/>
          <a:lstStyle/>
          <a:p>
            <a:pPr indent="0" marL="0">
              <a:buNone/>
            </a:pPr>
            <a:r>
              <a:rPr lang="en-US" sz="1250" dirty="0">
                <a:solidFill>
                  <a:srgbClr val="5B6B8C"/>
                </a:solidFill>
                <a:latin typeface="Calibri" pitchFamily="34" charset="0"/>
                <a:ea typeface="Calibri" pitchFamily="34" charset="-122"/>
                <a:cs typeface="Calibri" pitchFamily="34" charset="-120"/>
              </a:rPr>
              <a:t>Generative AI, the compute explosion, and what may come next.</a:t>
            </a:r>
            <a:endParaRPr lang="en-US" sz="1250" dirty="0"/>
          </a:p>
        </p:txBody>
      </p:sp>
      <p:sp>
        <p:nvSpPr>
          <p:cNvPr id="24" name="Text 18"/>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A8B3C7"/>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lIns="0" tIns="0" rIns="0" bIns="0" rtlCol="0" anchor="ctr"/>
          <a:lstStyle/>
          <a:p>
            <a:pPr indent="0" marL="0">
              <a:buNone/>
            </a:pPr>
            <a:r>
              <a:rPr lang="en-US" sz="1300" b="1" spc="200" kern="0" dirty="0">
                <a:solidFill>
                  <a:srgbClr val="0FB5C4"/>
                </a:solidFill>
                <a:latin typeface="Calibri" pitchFamily="34" charset="0"/>
                <a:ea typeface="Calibri" pitchFamily="34" charset="-122"/>
                <a:cs typeface="Calibri" pitchFamily="34" charset="-120"/>
              </a:rPr>
              <a:t>1950 – 1956</a:t>
            </a:r>
            <a:endParaRPr lang="en-US" sz="1300" dirty="0"/>
          </a:p>
        </p:txBody>
      </p:sp>
      <p:sp>
        <p:nvSpPr>
          <p:cNvPr id="3" name="Text 1"/>
          <p:cNvSpPr/>
          <p:nvPr/>
        </p:nvSpPr>
        <p:spPr>
          <a:xfrm>
            <a:off x="640080" y="777240"/>
            <a:ext cx="6400800" cy="64008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The Birth of an Idea</a:t>
            </a:r>
            <a:endParaRPr lang="en-US" sz="3200" dirty="0"/>
          </a:p>
        </p:txBody>
      </p:sp>
      <p:sp>
        <p:nvSpPr>
          <p:cNvPr id="4" name="Text 2"/>
          <p:cNvSpPr/>
          <p:nvPr/>
        </p:nvSpPr>
        <p:spPr>
          <a:xfrm>
            <a:off x="640080" y="1508760"/>
            <a:ext cx="6309360" cy="1554480"/>
          </a:xfrm>
          <a:prstGeom prst="rect">
            <a:avLst/>
          </a:prstGeom>
          <a:noFill/>
          <a:ln/>
        </p:spPr>
        <p:txBody>
          <a:bodyPr wrap="square" lIns="0" tIns="0" rIns="0" bIns="0" rtlCol="0" anchor="ctr"/>
          <a:lstStyle/>
          <a:p>
            <a:pPr indent="0" marL="0">
              <a:lnSpc>
                <a:spcPct val="115000"/>
              </a:lnSpc>
              <a:buNone/>
            </a:pPr>
            <a:r>
              <a:rPr lang="en-US" sz="1400" dirty="0">
                <a:solidFill>
                  <a:srgbClr val="16213E"/>
                </a:solidFill>
                <a:latin typeface="Calibri" pitchFamily="34" charset="0"/>
                <a:ea typeface="Calibri" pitchFamily="34" charset="-122"/>
                <a:cs typeface="Calibri" pitchFamily="34" charset="-120"/>
              </a:rPr>
              <a:t>In WWII, Alan Turing's codebreaking work against the Nazi Enigma machine pushed him toward a bigger question: could machines think? His 1950 paper proposed the “Imitation Game” — now known as the Turing Test — a benchmark for machine intelligence that still frames the debate today.</a:t>
            </a:r>
            <a:endParaRPr lang="en-US" sz="1400" dirty="0"/>
          </a:p>
        </p:txBody>
      </p:sp>
      <p:sp>
        <p:nvSpPr>
          <p:cNvPr id="5" name="Shape 3"/>
          <p:cNvSpPr/>
          <p:nvPr/>
        </p:nvSpPr>
        <p:spPr>
          <a:xfrm>
            <a:off x="640080" y="3246120"/>
            <a:ext cx="6309360" cy="2651760"/>
          </a:xfrm>
          <a:prstGeom prst="roundRect">
            <a:avLst>
              <a:gd name="adj" fmla="val 2759"/>
            </a:avLst>
          </a:prstGeom>
          <a:solidFill>
            <a:srgbClr val="F3F6FA"/>
          </a:solidFill>
          <a:ln/>
          <a:effectLst>
            <a:outerShdw sx="100000" sy="100000" kx="0" ky="0" algn="bl" rotWithShape="0" blurRad="127000" dist="38100" dir="2700000">
              <a:srgbClr val="0B1F3A">
                <a:alpha val="12000"/>
              </a:srgbClr>
            </a:outerShdw>
          </a:effectLst>
        </p:spPr>
      </p:sp>
      <p:sp>
        <p:nvSpPr>
          <p:cNvPr id="6" name="Text 4"/>
          <p:cNvSpPr/>
          <p:nvPr/>
        </p:nvSpPr>
        <p:spPr>
          <a:xfrm>
            <a:off x="914400" y="3429000"/>
            <a:ext cx="5486400" cy="3200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Key Milestones</a:t>
            </a:r>
            <a:endParaRPr lang="en-US" sz="1400" dirty="0"/>
          </a:p>
        </p:txBody>
      </p:sp>
      <p:sp>
        <p:nvSpPr>
          <p:cNvPr id="7" name="Shape 5"/>
          <p:cNvSpPr/>
          <p:nvPr/>
        </p:nvSpPr>
        <p:spPr>
          <a:xfrm>
            <a:off x="914400" y="3895344"/>
            <a:ext cx="109728" cy="109728"/>
          </a:xfrm>
          <a:prstGeom prst="ellipse">
            <a:avLst/>
          </a:prstGeom>
          <a:solidFill>
            <a:srgbClr val="0FB5C4"/>
          </a:solidFill>
          <a:ln/>
        </p:spPr>
      </p:sp>
      <p:sp>
        <p:nvSpPr>
          <p:cNvPr id="8" name="Text 6"/>
          <p:cNvSpPr/>
          <p:nvPr/>
        </p:nvSpPr>
        <p:spPr>
          <a:xfrm>
            <a:off x="1143000" y="3767328"/>
            <a:ext cx="5669280" cy="274320"/>
          </a:xfrm>
          <a:prstGeom prst="rect">
            <a:avLst/>
          </a:prstGeom>
          <a:noFill/>
          <a:ln/>
        </p:spPr>
        <p:txBody>
          <a:bodyPr wrap="square" lIns="0" tIns="0" rIns="0" bIns="0" rtlCol="0" anchor="ctr"/>
          <a:lstStyle/>
          <a:p>
            <a:pPr indent="0" marL="0">
              <a:buNone/>
            </a:pPr>
            <a:r>
              <a:rPr lang="en-US" sz="1250" b="1" dirty="0">
                <a:solidFill>
                  <a:srgbClr val="16213E"/>
                </a:solidFill>
                <a:latin typeface="Calibri" pitchFamily="34" charset="0"/>
                <a:ea typeface="Calibri" pitchFamily="34" charset="-122"/>
                <a:cs typeface="Calibri" pitchFamily="34" charset="-120"/>
              </a:rPr>
              <a:t>1950 — Turing Test</a:t>
            </a:r>
            <a:endParaRPr lang="en-US" sz="1250" dirty="0"/>
          </a:p>
        </p:txBody>
      </p:sp>
      <p:sp>
        <p:nvSpPr>
          <p:cNvPr id="9" name="Text 7"/>
          <p:cNvSpPr/>
          <p:nvPr/>
        </p:nvSpPr>
        <p:spPr>
          <a:xfrm>
            <a:off x="1143000" y="4014216"/>
            <a:ext cx="5669280" cy="365760"/>
          </a:xfrm>
          <a:prstGeom prst="rect">
            <a:avLst/>
          </a:prstGeom>
          <a:noFill/>
          <a:ln/>
        </p:spPr>
        <p:txBody>
          <a:bodyPr wrap="square" lIns="0" tIns="0" rIns="0" bIns="0" rtlCol="0" anchor="ctr"/>
          <a:lstStyle/>
          <a:p>
            <a:pPr indent="0" marL="0">
              <a:buNone/>
            </a:pPr>
            <a:r>
              <a:rPr lang="en-US" sz="1100" dirty="0">
                <a:solidFill>
                  <a:srgbClr val="5B6B8C"/>
                </a:solidFill>
                <a:latin typeface="Calibri" pitchFamily="34" charset="0"/>
                <a:ea typeface="Calibri" pitchFamily="34" charset="-122"/>
                <a:cs typeface="Calibri" pitchFamily="34" charset="-120"/>
              </a:rPr>
              <a:t>“Computing Machinery and Intelligence” introduces a formal test for machine intelligence.</a:t>
            </a:r>
            <a:endParaRPr lang="en-US" sz="1100" dirty="0"/>
          </a:p>
        </p:txBody>
      </p:sp>
      <p:sp>
        <p:nvSpPr>
          <p:cNvPr id="10" name="Shape 8"/>
          <p:cNvSpPr/>
          <p:nvPr/>
        </p:nvSpPr>
        <p:spPr>
          <a:xfrm>
            <a:off x="914400" y="4489704"/>
            <a:ext cx="109728" cy="109728"/>
          </a:xfrm>
          <a:prstGeom prst="ellipse">
            <a:avLst/>
          </a:prstGeom>
          <a:solidFill>
            <a:srgbClr val="0FB5C4"/>
          </a:solidFill>
          <a:ln/>
        </p:spPr>
      </p:sp>
      <p:sp>
        <p:nvSpPr>
          <p:cNvPr id="11" name="Text 9"/>
          <p:cNvSpPr/>
          <p:nvPr/>
        </p:nvSpPr>
        <p:spPr>
          <a:xfrm>
            <a:off x="1143000" y="4361688"/>
            <a:ext cx="5669280" cy="274320"/>
          </a:xfrm>
          <a:prstGeom prst="rect">
            <a:avLst/>
          </a:prstGeom>
          <a:noFill/>
          <a:ln/>
        </p:spPr>
        <p:txBody>
          <a:bodyPr wrap="square" lIns="0" tIns="0" rIns="0" bIns="0" rtlCol="0" anchor="ctr"/>
          <a:lstStyle/>
          <a:p>
            <a:pPr indent="0" marL="0">
              <a:buNone/>
            </a:pPr>
            <a:r>
              <a:rPr lang="en-US" sz="1250" b="1" dirty="0">
                <a:solidFill>
                  <a:srgbClr val="16213E"/>
                </a:solidFill>
                <a:latin typeface="Calibri" pitchFamily="34" charset="0"/>
                <a:ea typeface="Calibri" pitchFamily="34" charset="-122"/>
                <a:cs typeface="Calibri" pitchFamily="34" charset="-120"/>
              </a:rPr>
              <a:t>1954 — First Neural Net</a:t>
            </a:r>
            <a:endParaRPr lang="en-US" sz="1250" dirty="0"/>
          </a:p>
        </p:txBody>
      </p:sp>
      <p:sp>
        <p:nvSpPr>
          <p:cNvPr id="12" name="Text 10"/>
          <p:cNvSpPr/>
          <p:nvPr/>
        </p:nvSpPr>
        <p:spPr>
          <a:xfrm>
            <a:off x="1143000" y="4608576"/>
            <a:ext cx="5669280" cy="365760"/>
          </a:xfrm>
          <a:prstGeom prst="rect">
            <a:avLst/>
          </a:prstGeom>
          <a:noFill/>
          <a:ln/>
        </p:spPr>
        <p:txBody>
          <a:bodyPr wrap="square" lIns="0" tIns="0" rIns="0" bIns="0" rtlCol="0" anchor="ctr"/>
          <a:lstStyle/>
          <a:p>
            <a:pPr indent="0" marL="0">
              <a:buNone/>
            </a:pPr>
            <a:r>
              <a:rPr lang="en-US" sz="1100" dirty="0">
                <a:solidFill>
                  <a:srgbClr val="5B6B8C"/>
                </a:solidFill>
                <a:latin typeface="Calibri" pitchFamily="34" charset="0"/>
                <a:ea typeface="Calibri" pitchFamily="34" charset="-122"/>
                <a:cs typeface="Calibri" pitchFamily="34" charset="-120"/>
              </a:rPr>
              <a:t>Marvin Minsky, then a PhD student, builds one of the first working neural networks from vacuum tubes.</a:t>
            </a:r>
            <a:endParaRPr lang="en-US" sz="1100" dirty="0"/>
          </a:p>
        </p:txBody>
      </p:sp>
      <p:sp>
        <p:nvSpPr>
          <p:cNvPr id="13" name="Shape 11"/>
          <p:cNvSpPr/>
          <p:nvPr/>
        </p:nvSpPr>
        <p:spPr>
          <a:xfrm>
            <a:off x="914400" y="5084064"/>
            <a:ext cx="109728" cy="109728"/>
          </a:xfrm>
          <a:prstGeom prst="ellipse">
            <a:avLst/>
          </a:prstGeom>
          <a:solidFill>
            <a:srgbClr val="0FB5C4"/>
          </a:solidFill>
          <a:ln/>
        </p:spPr>
      </p:sp>
      <p:sp>
        <p:nvSpPr>
          <p:cNvPr id="14" name="Text 12"/>
          <p:cNvSpPr/>
          <p:nvPr/>
        </p:nvSpPr>
        <p:spPr>
          <a:xfrm>
            <a:off x="1143000" y="4956048"/>
            <a:ext cx="5669280" cy="274320"/>
          </a:xfrm>
          <a:prstGeom prst="rect">
            <a:avLst/>
          </a:prstGeom>
          <a:noFill/>
          <a:ln/>
        </p:spPr>
        <p:txBody>
          <a:bodyPr wrap="square" lIns="0" tIns="0" rIns="0" bIns="0" rtlCol="0" anchor="ctr"/>
          <a:lstStyle/>
          <a:p>
            <a:pPr indent="0" marL="0">
              <a:buNone/>
            </a:pPr>
            <a:r>
              <a:rPr lang="en-US" sz="1250" b="1" dirty="0">
                <a:solidFill>
                  <a:srgbClr val="16213E"/>
                </a:solidFill>
                <a:latin typeface="Calibri" pitchFamily="34" charset="0"/>
                <a:ea typeface="Calibri" pitchFamily="34" charset="-122"/>
                <a:cs typeface="Calibri" pitchFamily="34" charset="-120"/>
              </a:rPr>
              <a:t>1956 — Dartmouth Conference</a:t>
            </a:r>
            <a:endParaRPr lang="en-US" sz="1250" dirty="0"/>
          </a:p>
        </p:txBody>
      </p:sp>
      <p:sp>
        <p:nvSpPr>
          <p:cNvPr id="15" name="Text 13"/>
          <p:cNvSpPr/>
          <p:nvPr/>
        </p:nvSpPr>
        <p:spPr>
          <a:xfrm>
            <a:off x="1143000" y="5202936"/>
            <a:ext cx="5669280" cy="365760"/>
          </a:xfrm>
          <a:prstGeom prst="rect">
            <a:avLst/>
          </a:prstGeom>
          <a:noFill/>
          <a:ln/>
        </p:spPr>
        <p:txBody>
          <a:bodyPr wrap="square" lIns="0" tIns="0" rIns="0" bIns="0" rtlCol="0" anchor="ctr"/>
          <a:lstStyle/>
          <a:p>
            <a:pPr indent="0" marL="0">
              <a:buNone/>
            </a:pPr>
            <a:r>
              <a:rPr lang="en-US" sz="1100" dirty="0">
                <a:solidFill>
                  <a:srgbClr val="5B6B8C"/>
                </a:solidFill>
                <a:latin typeface="Calibri" pitchFamily="34" charset="0"/>
                <a:ea typeface="Calibri" pitchFamily="34" charset="-122"/>
                <a:cs typeface="Calibri" pitchFamily="34" charset="-120"/>
              </a:rPr>
              <a:t>John McCarthy coins the term “artificial intelligence,” launching AI as a formal field of study.</a:t>
            </a:r>
            <a:endParaRPr lang="en-US" sz="1100" dirty="0"/>
          </a:p>
        </p:txBody>
      </p:sp>
      <p:sp>
        <p:nvSpPr>
          <p:cNvPr id="16" name="Shape 14"/>
          <p:cNvSpPr/>
          <p:nvPr/>
        </p:nvSpPr>
        <p:spPr>
          <a:xfrm>
            <a:off x="7223760" y="1508760"/>
            <a:ext cx="4297680" cy="4389120"/>
          </a:xfrm>
          <a:prstGeom prst="roundRect">
            <a:avLst>
              <a:gd name="adj" fmla="val 2128"/>
            </a:avLst>
          </a:prstGeom>
          <a:solidFill>
            <a:srgbClr val="0B1F3A"/>
          </a:solidFill>
          <a:ln/>
        </p:spPr>
      </p:sp>
      <p:sp>
        <p:nvSpPr>
          <p:cNvPr id="17" name="Shape 15"/>
          <p:cNvSpPr/>
          <p:nvPr/>
        </p:nvSpPr>
        <p:spPr>
          <a:xfrm>
            <a:off x="7543800" y="1828800"/>
            <a:ext cx="640080" cy="640080"/>
          </a:xfrm>
          <a:prstGeom prst="ellipse">
            <a:avLst/>
          </a:prstGeom>
          <a:solidFill>
            <a:srgbClr val="13294B"/>
          </a:solidFill>
          <a:ln/>
        </p:spPr>
      </p:sp>
      <p:pic>
        <p:nvPicPr>
          <p:cNvPr id="18" name="Image 0" descr="preencoded.png">    </p:cNvPr>
          <p:cNvPicPr>
            <a:picLocks noChangeAspect="1"/>
          </p:cNvPicPr>
          <p:nvPr/>
        </p:nvPicPr>
        <p:blipFill>
          <a:blip r:embed="rId1"/>
          <a:stretch>
            <a:fillRect/>
          </a:stretch>
        </p:blipFill>
        <p:spPr>
          <a:xfrm>
            <a:off x="7627010" y="1912010"/>
            <a:ext cx="473659" cy="473659"/>
          </a:xfrm>
          <a:prstGeom prst="rect">
            <a:avLst/>
          </a:prstGeom>
        </p:spPr>
      </p:pic>
      <p:sp>
        <p:nvSpPr>
          <p:cNvPr id="19" name="Text 16"/>
          <p:cNvSpPr/>
          <p:nvPr/>
        </p:nvSpPr>
        <p:spPr>
          <a:xfrm>
            <a:off x="7543800" y="2651760"/>
            <a:ext cx="3657600" cy="1280160"/>
          </a:xfrm>
          <a:prstGeom prst="rect">
            <a:avLst/>
          </a:prstGeom>
          <a:noFill/>
          <a:ln/>
        </p:spPr>
        <p:txBody>
          <a:bodyPr wrap="square" lIns="0" tIns="0" rIns="0" bIns="0" rtlCol="0" anchor="ctr"/>
          <a:lstStyle/>
          <a:p>
            <a:pPr indent="0" marL="0">
              <a:buNone/>
            </a:pPr>
            <a:r>
              <a:rPr lang="en-US" sz="1600" i="1" dirty="0">
                <a:solidFill>
                  <a:srgbClr val="FFFFFF"/>
                </a:solidFill>
                <a:latin typeface="Cambria" pitchFamily="34" charset="0"/>
                <a:ea typeface="Cambria" pitchFamily="34" charset="-122"/>
                <a:cs typeface="Cambria" pitchFamily="34" charset="-120"/>
              </a:rPr>
              <a:t>“I'm convinced that machines can and will think in our lifetime.”</a:t>
            </a:r>
            <a:endParaRPr lang="en-US" sz="1600" dirty="0"/>
          </a:p>
        </p:txBody>
      </p:sp>
      <p:sp>
        <p:nvSpPr>
          <p:cNvPr id="20" name="Text 17"/>
          <p:cNvSpPr/>
          <p:nvPr/>
        </p:nvSpPr>
        <p:spPr>
          <a:xfrm>
            <a:off x="7543800" y="3886200"/>
            <a:ext cx="3657600" cy="548640"/>
          </a:xfrm>
          <a:prstGeom prst="rect">
            <a:avLst/>
          </a:prstGeom>
          <a:noFill/>
          <a:ln/>
        </p:spPr>
        <p:txBody>
          <a:bodyPr wrap="square" lIns="0" tIns="0" rIns="0" bIns="0" rtlCol="0" anchor="ctr"/>
          <a:lstStyle/>
          <a:p>
            <a:pPr indent="0" marL="0">
              <a:buNone/>
            </a:pPr>
            <a:r>
              <a:rPr lang="en-US" sz="1050" dirty="0">
                <a:solidFill>
                  <a:srgbClr val="9FB3D1"/>
                </a:solidFill>
                <a:latin typeface="Calibri" pitchFamily="34" charset="0"/>
                <a:ea typeface="Calibri" pitchFamily="34" charset="-122"/>
                <a:cs typeface="Calibri" pitchFamily="34" charset="-120"/>
              </a:rPr>
              <a:t>— paraphrased sentiment widely attributed to early AI researchers of the era</a:t>
            </a:r>
            <a:endParaRPr lang="en-US" sz="1050" dirty="0"/>
          </a:p>
        </p:txBody>
      </p:sp>
      <p:sp>
        <p:nvSpPr>
          <p:cNvPr id="21" name="Shape 18"/>
          <p:cNvSpPr/>
          <p:nvPr/>
        </p:nvSpPr>
        <p:spPr>
          <a:xfrm>
            <a:off x="7543800" y="4572000"/>
            <a:ext cx="1097280" cy="0"/>
          </a:xfrm>
          <a:prstGeom prst="line">
            <a:avLst/>
          </a:prstGeom>
          <a:noFill/>
          <a:ln w="25400">
            <a:solidFill>
              <a:srgbClr val="0FB5C4"/>
            </a:solidFill>
            <a:prstDash val="solid"/>
          </a:ln>
        </p:spPr>
      </p:sp>
      <p:sp>
        <p:nvSpPr>
          <p:cNvPr id="22" name="Text 19"/>
          <p:cNvSpPr/>
          <p:nvPr/>
        </p:nvSpPr>
        <p:spPr>
          <a:xfrm>
            <a:off x="7543800" y="4709160"/>
            <a:ext cx="3657600" cy="1005840"/>
          </a:xfrm>
          <a:prstGeom prst="rect">
            <a:avLst/>
          </a:prstGeom>
          <a:noFill/>
          <a:ln/>
        </p:spPr>
        <p:txBody>
          <a:bodyPr wrap="square" lIns="0" tIns="0" rIns="0" bIns="0" rtlCol="0" anchor="ctr"/>
          <a:lstStyle/>
          <a:p>
            <a:pPr indent="0" marL="0">
              <a:buNone/>
            </a:pPr>
            <a:r>
              <a:rPr lang="en-US" sz="1150" dirty="0">
                <a:solidFill>
                  <a:srgbClr val="CFE8F3"/>
                </a:solidFill>
                <a:latin typeface="Calibri" pitchFamily="34" charset="0"/>
                <a:ea typeface="Calibri" pitchFamily="34" charset="-122"/>
                <a:cs typeface="Calibri" pitchFamily="34" charset="-120"/>
              </a:rPr>
              <a:t>Why it mattered: this optimism set sky-high expectations — expectations that would come crashing down less than two decades later.</a:t>
            </a:r>
            <a:endParaRPr lang="en-US" sz="1150" dirty="0"/>
          </a:p>
        </p:txBody>
      </p:sp>
      <p:sp>
        <p:nvSpPr>
          <p:cNvPr id="23" name="Text 20"/>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A8B3C7"/>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lIns="0" tIns="0" rIns="0" bIns="0" rtlCol="0" anchor="ctr"/>
          <a:lstStyle/>
          <a:p>
            <a:pPr indent="0" marL="0">
              <a:buNone/>
            </a:pPr>
            <a:r>
              <a:rPr lang="en-US" sz="1300" b="1" spc="200" kern="0" dirty="0">
                <a:solidFill>
                  <a:srgbClr val="0FB5C4"/>
                </a:solidFill>
                <a:latin typeface="Calibri" pitchFamily="34" charset="0"/>
                <a:ea typeface="Calibri" pitchFamily="34" charset="-122"/>
                <a:cs typeface="Calibri" pitchFamily="34" charset="-120"/>
              </a:rPr>
              <a:t>1947 – 1971</a:t>
            </a:r>
            <a:endParaRPr lang="en-US" sz="1300" dirty="0"/>
          </a:p>
        </p:txBody>
      </p:sp>
      <p:sp>
        <p:nvSpPr>
          <p:cNvPr id="3" name="Text 1"/>
          <p:cNvSpPr/>
          <p:nvPr/>
        </p:nvSpPr>
        <p:spPr>
          <a:xfrm>
            <a:off x="640080" y="777240"/>
            <a:ext cx="10058400" cy="64008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The Hardware Behind the Intelligence</a:t>
            </a:r>
            <a:endParaRPr lang="en-US" sz="3000" dirty="0"/>
          </a:p>
        </p:txBody>
      </p:sp>
      <p:sp>
        <p:nvSpPr>
          <p:cNvPr id="4" name="Text 2"/>
          <p:cNvSpPr/>
          <p:nvPr/>
        </p:nvSpPr>
        <p:spPr>
          <a:xfrm>
            <a:off x="640080" y="1371600"/>
            <a:ext cx="10332720" cy="365760"/>
          </a:xfrm>
          <a:prstGeom prst="rect">
            <a:avLst/>
          </a:prstGeom>
          <a:noFill/>
          <a:ln/>
        </p:spPr>
        <p:txBody>
          <a:bodyPr wrap="square" lIns="0" tIns="0" rIns="0" bIns="0" rtlCol="0" anchor="ctr"/>
          <a:lstStyle/>
          <a:p>
            <a:pPr indent="0" marL="0">
              <a:buNone/>
            </a:pPr>
            <a:r>
              <a:rPr lang="en-US" sz="1350" dirty="0">
                <a:solidFill>
                  <a:srgbClr val="5B6B8C"/>
                </a:solidFill>
                <a:latin typeface="Calibri" pitchFamily="34" charset="0"/>
                <a:ea typeface="Calibri" pitchFamily="34" charset="-122"/>
                <a:cs typeface="Calibri" pitchFamily="34" charset="-120"/>
              </a:rPr>
              <a:t>Algorithms need silicon. Every leap in AI theory has run alongside a parallel revolution in computing power.</a:t>
            </a:r>
            <a:endParaRPr lang="en-US" sz="1350" dirty="0"/>
          </a:p>
        </p:txBody>
      </p:sp>
      <p:sp>
        <p:nvSpPr>
          <p:cNvPr id="5" name="Shape 3"/>
          <p:cNvSpPr/>
          <p:nvPr/>
        </p:nvSpPr>
        <p:spPr>
          <a:xfrm>
            <a:off x="640080" y="2148840"/>
            <a:ext cx="2514600" cy="3566160"/>
          </a:xfrm>
          <a:prstGeom prst="roundRect">
            <a:avLst>
              <a:gd name="adj" fmla="val 2909"/>
            </a:avLst>
          </a:prstGeom>
          <a:solidFill>
            <a:srgbClr val="F3F6FA"/>
          </a:solidFill>
          <a:ln/>
          <a:effectLst>
            <a:outerShdw sx="100000" sy="100000" kx="0" ky="0" algn="bl" rotWithShape="0" blurRad="127000" dist="38100" dir="2700000">
              <a:srgbClr val="0B1F3A">
                <a:alpha val="12000"/>
              </a:srgbClr>
            </a:outerShdw>
          </a:effectLst>
        </p:spPr>
      </p:sp>
      <p:sp>
        <p:nvSpPr>
          <p:cNvPr id="6" name="Text 4"/>
          <p:cNvSpPr/>
          <p:nvPr/>
        </p:nvSpPr>
        <p:spPr>
          <a:xfrm>
            <a:off x="822960" y="2331720"/>
            <a:ext cx="2148840" cy="365760"/>
          </a:xfrm>
          <a:prstGeom prst="rect">
            <a:avLst/>
          </a:prstGeom>
          <a:noFill/>
          <a:ln/>
        </p:spPr>
        <p:txBody>
          <a:bodyPr wrap="square" lIns="0" tIns="0" rIns="0" bIns="0" rtlCol="0" anchor="ctr"/>
          <a:lstStyle/>
          <a:p>
            <a:pPr indent="0" marL="0">
              <a:buNone/>
            </a:pPr>
            <a:r>
              <a:rPr lang="en-US" sz="2200" b="1" dirty="0">
                <a:solidFill>
                  <a:srgbClr val="0FB5C4"/>
                </a:solidFill>
                <a:latin typeface="Cambria" pitchFamily="34" charset="0"/>
                <a:ea typeface="Cambria" pitchFamily="34" charset="-122"/>
                <a:cs typeface="Cambria" pitchFamily="34" charset="-120"/>
              </a:rPr>
              <a:t>1947</a:t>
            </a:r>
            <a:endParaRPr lang="en-US" sz="2200" dirty="0"/>
          </a:p>
        </p:txBody>
      </p:sp>
      <p:sp>
        <p:nvSpPr>
          <p:cNvPr id="7" name="Shape 5"/>
          <p:cNvSpPr/>
          <p:nvPr/>
        </p:nvSpPr>
        <p:spPr>
          <a:xfrm>
            <a:off x="822960" y="2834640"/>
            <a:ext cx="548640" cy="548640"/>
          </a:xfrm>
          <a:prstGeom prst="ellipse">
            <a:avLst/>
          </a:prstGeom>
          <a:solidFill>
            <a:srgbClr val="0B1F3A"/>
          </a:solidFill>
          <a:ln/>
        </p:spPr>
      </p:sp>
      <p:pic>
        <p:nvPicPr>
          <p:cNvPr id="8" name="Image 0" descr="preencoded.png">    </p:cNvPr>
          <p:cNvPicPr>
            <a:picLocks noChangeAspect="1"/>
          </p:cNvPicPr>
          <p:nvPr/>
        </p:nvPicPr>
        <p:blipFill>
          <a:blip r:embed="rId1"/>
          <a:stretch>
            <a:fillRect/>
          </a:stretch>
        </p:blipFill>
        <p:spPr>
          <a:xfrm>
            <a:off x="894283" y="2905963"/>
            <a:ext cx="405994" cy="405994"/>
          </a:xfrm>
          <a:prstGeom prst="rect">
            <a:avLst/>
          </a:prstGeom>
        </p:spPr>
      </p:pic>
      <p:sp>
        <p:nvSpPr>
          <p:cNvPr id="9" name="Text 6"/>
          <p:cNvSpPr/>
          <p:nvPr/>
        </p:nvSpPr>
        <p:spPr>
          <a:xfrm>
            <a:off x="822960" y="3520440"/>
            <a:ext cx="2148840" cy="457200"/>
          </a:xfrm>
          <a:prstGeom prst="rect">
            <a:avLst/>
          </a:prstGeom>
          <a:noFill/>
          <a:ln/>
        </p:spPr>
        <p:txBody>
          <a:bodyPr wrap="square" lIns="0" tIns="0" rIns="0" bIns="0" rtlCol="0" anchor="ctr"/>
          <a:lstStyle/>
          <a:p>
            <a:pPr indent="0" marL="0">
              <a:buNone/>
            </a:pPr>
            <a:r>
              <a:rPr lang="en-US" sz="1400" b="1" dirty="0">
                <a:solidFill>
                  <a:srgbClr val="16213E"/>
                </a:solidFill>
                <a:latin typeface="Calibri" pitchFamily="34" charset="0"/>
                <a:ea typeface="Calibri" pitchFamily="34" charset="-122"/>
                <a:cs typeface="Calibri" pitchFamily="34" charset="-120"/>
              </a:rPr>
              <a:t>The Transistor</a:t>
            </a:r>
            <a:endParaRPr lang="en-US" sz="1400" dirty="0"/>
          </a:p>
        </p:txBody>
      </p:sp>
      <p:sp>
        <p:nvSpPr>
          <p:cNvPr id="10" name="Text 7"/>
          <p:cNvSpPr/>
          <p:nvPr/>
        </p:nvSpPr>
        <p:spPr>
          <a:xfrm>
            <a:off x="822960" y="3977640"/>
            <a:ext cx="2148840" cy="1645920"/>
          </a:xfrm>
          <a:prstGeom prst="rect">
            <a:avLst/>
          </a:prstGeom>
          <a:noFill/>
          <a:ln/>
        </p:spPr>
        <p:txBody>
          <a:bodyPr wrap="square" lIns="0" tIns="0" rIns="0" bIns="0" rtlCol="0" anchor="ctr"/>
          <a:lstStyle/>
          <a:p>
            <a:pPr indent="0" marL="0">
              <a:buNone/>
            </a:pPr>
            <a:r>
              <a:rPr lang="en-US" sz="1100" dirty="0">
                <a:solidFill>
                  <a:srgbClr val="5B6B8C"/>
                </a:solidFill>
                <a:latin typeface="Calibri" pitchFamily="34" charset="0"/>
                <a:ea typeface="Calibri" pitchFamily="34" charset="-122"/>
                <a:cs typeface="Calibri" pitchFamily="34" charset="-120"/>
              </a:rPr>
              <a:t>Bell Labs physicist William Shockley helps invent the transistor, replacing bulky, unreliable vacuum tubes.</a:t>
            </a:r>
            <a:endParaRPr lang="en-US" sz="1100" dirty="0"/>
          </a:p>
        </p:txBody>
      </p:sp>
      <p:sp>
        <p:nvSpPr>
          <p:cNvPr id="11" name="Shape 8"/>
          <p:cNvSpPr/>
          <p:nvPr/>
        </p:nvSpPr>
        <p:spPr>
          <a:xfrm>
            <a:off x="3214116" y="3840480"/>
            <a:ext cx="109728" cy="109728"/>
          </a:xfrm>
          <a:prstGeom prst="ellipse">
            <a:avLst/>
          </a:prstGeom>
          <a:solidFill>
            <a:srgbClr val="FF7A30"/>
          </a:solidFill>
          <a:ln/>
        </p:spPr>
      </p:sp>
      <p:sp>
        <p:nvSpPr>
          <p:cNvPr id="12" name="Shape 9"/>
          <p:cNvSpPr/>
          <p:nvPr/>
        </p:nvSpPr>
        <p:spPr>
          <a:xfrm>
            <a:off x="3383280" y="2148840"/>
            <a:ext cx="2514600" cy="3566160"/>
          </a:xfrm>
          <a:prstGeom prst="roundRect">
            <a:avLst>
              <a:gd name="adj" fmla="val 2909"/>
            </a:avLst>
          </a:prstGeom>
          <a:solidFill>
            <a:srgbClr val="F3F6FA"/>
          </a:solidFill>
          <a:ln/>
          <a:effectLst>
            <a:outerShdw sx="100000" sy="100000" kx="0" ky="0" algn="bl" rotWithShape="0" blurRad="127000" dist="38100" dir="2700000">
              <a:srgbClr val="0B1F3A">
                <a:alpha val="12000"/>
              </a:srgbClr>
            </a:outerShdw>
          </a:effectLst>
        </p:spPr>
      </p:sp>
      <p:sp>
        <p:nvSpPr>
          <p:cNvPr id="13" name="Text 10"/>
          <p:cNvSpPr/>
          <p:nvPr/>
        </p:nvSpPr>
        <p:spPr>
          <a:xfrm>
            <a:off x="3566160" y="2331720"/>
            <a:ext cx="2148840" cy="365760"/>
          </a:xfrm>
          <a:prstGeom prst="rect">
            <a:avLst/>
          </a:prstGeom>
          <a:noFill/>
          <a:ln/>
        </p:spPr>
        <p:txBody>
          <a:bodyPr wrap="square" lIns="0" tIns="0" rIns="0" bIns="0" rtlCol="0" anchor="ctr"/>
          <a:lstStyle/>
          <a:p>
            <a:pPr indent="0" marL="0">
              <a:buNone/>
            </a:pPr>
            <a:r>
              <a:rPr lang="en-US" sz="2200" b="1" dirty="0">
                <a:solidFill>
                  <a:srgbClr val="0FB5C4"/>
                </a:solidFill>
                <a:latin typeface="Cambria" pitchFamily="34" charset="0"/>
                <a:ea typeface="Cambria" pitchFamily="34" charset="-122"/>
                <a:cs typeface="Cambria" pitchFamily="34" charset="-120"/>
              </a:rPr>
              <a:t>1957</a:t>
            </a:r>
            <a:endParaRPr lang="en-US" sz="2200" dirty="0"/>
          </a:p>
        </p:txBody>
      </p:sp>
      <p:sp>
        <p:nvSpPr>
          <p:cNvPr id="14" name="Shape 11"/>
          <p:cNvSpPr/>
          <p:nvPr/>
        </p:nvSpPr>
        <p:spPr>
          <a:xfrm>
            <a:off x="3566160" y="2834640"/>
            <a:ext cx="548640" cy="548640"/>
          </a:xfrm>
          <a:prstGeom prst="ellipse">
            <a:avLst/>
          </a:prstGeom>
          <a:solidFill>
            <a:srgbClr val="0B1F3A"/>
          </a:solidFill>
          <a:ln/>
        </p:spPr>
      </p:sp>
      <p:pic>
        <p:nvPicPr>
          <p:cNvPr id="15" name="Image 1" descr="preencoded.png">    </p:cNvPr>
          <p:cNvPicPr>
            <a:picLocks noChangeAspect="1"/>
          </p:cNvPicPr>
          <p:nvPr/>
        </p:nvPicPr>
        <p:blipFill>
          <a:blip r:embed="rId2"/>
          <a:stretch>
            <a:fillRect/>
          </a:stretch>
        </p:blipFill>
        <p:spPr>
          <a:xfrm>
            <a:off x="3637483" y="2905963"/>
            <a:ext cx="405994" cy="405994"/>
          </a:xfrm>
          <a:prstGeom prst="rect">
            <a:avLst/>
          </a:prstGeom>
        </p:spPr>
      </p:pic>
      <p:sp>
        <p:nvSpPr>
          <p:cNvPr id="16" name="Text 12"/>
          <p:cNvSpPr/>
          <p:nvPr/>
        </p:nvSpPr>
        <p:spPr>
          <a:xfrm>
            <a:off x="3566160" y="3520440"/>
            <a:ext cx="2148840" cy="457200"/>
          </a:xfrm>
          <a:prstGeom prst="rect">
            <a:avLst/>
          </a:prstGeom>
          <a:noFill/>
          <a:ln/>
        </p:spPr>
        <p:txBody>
          <a:bodyPr wrap="square" lIns="0" tIns="0" rIns="0" bIns="0" rtlCol="0" anchor="ctr"/>
          <a:lstStyle/>
          <a:p>
            <a:pPr indent="0" marL="0">
              <a:buNone/>
            </a:pPr>
            <a:r>
              <a:rPr lang="en-US" sz="1400" b="1" dirty="0">
                <a:solidFill>
                  <a:srgbClr val="16213E"/>
                </a:solidFill>
                <a:latin typeface="Calibri" pitchFamily="34" charset="0"/>
                <a:ea typeface="Calibri" pitchFamily="34" charset="-122"/>
                <a:cs typeface="Calibri" pitchFamily="34" charset="-120"/>
              </a:rPr>
              <a:t>Fairchild Semiconductor</a:t>
            </a:r>
            <a:endParaRPr lang="en-US" sz="1400" dirty="0"/>
          </a:p>
        </p:txBody>
      </p:sp>
      <p:sp>
        <p:nvSpPr>
          <p:cNvPr id="17" name="Text 13"/>
          <p:cNvSpPr/>
          <p:nvPr/>
        </p:nvSpPr>
        <p:spPr>
          <a:xfrm>
            <a:off x="3566160" y="3977640"/>
            <a:ext cx="2148840" cy="1645920"/>
          </a:xfrm>
          <a:prstGeom prst="rect">
            <a:avLst/>
          </a:prstGeom>
          <a:noFill/>
          <a:ln/>
        </p:spPr>
        <p:txBody>
          <a:bodyPr wrap="square" lIns="0" tIns="0" rIns="0" bIns="0" rtlCol="0" anchor="ctr"/>
          <a:lstStyle/>
          <a:p>
            <a:pPr indent="0" marL="0">
              <a:buNone/>
            </a:pPr>
            <a:r>
              <a:rPr lang="en-US" sz="1100" dirty="0">
                <a:solidFill>
                  <a:srgbClr val="5B6B8C"/>
                </a:solidFill>
                <a:latin typeface="Calibri" pitchFamily="34" charset="0"/>
                <a:ea typeface="Calibri" pitchFamily="34" charset="-122"/>
                <a:cs typeface="Calibri" pitchFamily="34" charset="-120"/>
              </a:rPr>
              <a:t>Eight engineers leave Shockley's company — the “Traitorous Eight” — founding the company that seeds Silicon Valley.</a:t>
            </a:r>
            <a:endParaRPr lang="en-US" sz="1100" dirty="0"/>
          </a:p>
        </p:txBody>
      </p:sp>
      <p:sp>
        <p:nvSpPr>
          <p:cNvPr id="18" name="Shape 14"/>
          <p:cNvSpPr/>
          <p:nvPr/>
        </p:nvSpPr>
        <p:spPr>
          <a:xfrm>
            <a:off x="5957316" y="3840480"/>
            <a:ext cx="109728" cy="109728"/>
          </a:xfrm>
          <a:prstGeom prst="ellipse">
            <a:avLst/>
          </a:prstGeom>
          <a:solidFill>
            <a:srgbClr val="FF7A30"/>
          </a:solidFill>
          <a:ln/>
        </p:spPr>
      </p:sp>
      <p:sp>
        <p:nvSpPr>
          <p:cNvPr id="19" name="Shape 15"/>
          <p:cNvSpPr/>
          <p:nvPr/>
        </p:nvSpPr>
        <p:spPr>
          <a:xfrm>
            <a:off x="6126480" y="2148840"/>
            <a:ext cx="2514600" cy="3566160"/>
          </a:xfrm>
          <a:prstGeom prst="roundRect">
            <a:avLst>
              <a:gd name="adj" fmla="val 2909"/>
            </a:avLst>
          </a:prstGeom>
          <a:solidFill>
            <a:srgbClr val="F3F6FA"/>
          </a:solidFill>
          <a:ln/>
          <a:effectLst>
            <a:outerShdw sx="100000" sy="100000" kx="0" ky="0" algn="bl" rotWithShape="0" blurRad="127000" dist="38100" dir="2700000">
              <a:srgbClr val="0B1F3A">
                <a:alpha val="12000"/>
              </a:srgbClr>
            </a:outerShdw>
          </a:effectLst>
        </p:spPr>
      </p:sp>
      <p:sp>
        <p:nvSpPr>
          <p:cNvPr id="20" name="Text 16"/>
          <p:cNvSpPr/>
          <p:nvPr/>
        </p:nvSpPr>
        <p:spPr>
          <a:xfrm>
            <a:off x="6309360" y="2331720"/>
            <a:ext cx="2148840" cy="365760"/>
          </a:xfrm>
          <a:prstGeom prst="rect">
            <a:avLst/>
          </a:prstGeom>
          <a:noFill/>
          <a:ln/>
        </p:spPr>
        <p:txBody>
          <a:bodyPr wrap="square" lIns="0" tIns="0" rIns="0" bIns="0" rtlCol="0" anchor="ctr"/>
          <a:lstStyle/>
          <a:p>
            <a:pPr indent="0" marL="0">
              <a:buNone/>
            </a:pPr>
            <a:r>
              <a:rPr lang="en-US" sz="2200" b="1" dirty="0">
                <a:solidFill>
                  <a:srgbClr val="0FB5C4"/>
                </a:solidFill>
                <a:latin typeface="Cambria" pitchFamily="34" charset="0"/>
                <a:ea typeface="Cambria" pitchFamily="34" charset="-122"/>
                <a:cs typeface="Cambria" pitchFamily="34" charset="-120"/>
              </a:rPr>
              <a:t>1959</a:t>
            </a:r>
            <a:endParaRPr lang="en-US" sz="2200" dirty="0"/>
          </a:p>
        </p:txBody>
      </p:sp>
      <p:sp>
        <p:nvSpPr>
          <p:cNvPr id="21" name="Shape 17"/>
          <p:cNvSpPr/>
          <p:nvPr/>
        </p:nvSpPr>
        <p:spPr>
          <a:xfrm>
            <a:off x="6309360" y="2834640"/>
            <a:ext cx="548640" cy="548640"/>
          </a:xfrm>
          <a:prstGeom prst="ellipse">
            <a:avLst/>
          </a:prstGeom>
          <a:solidFill>
            <a:srgbClr val="0B1F3A"/>
          </a:solidFill>
          <a:ln/>
        </p:spPr>
      </p:sp>
      <p:pic>
        <p:nvPicPr>
          <p:cNvPr id="22" name="Image 2" descr="preencoded.png">    </p:cNvPr>
          <p:cNvPicPr>
            <a:picLocks noChangeAspect="1"/>
          </p:cNvPicPr>
          <p:nvPr/>
        </p:nvPicPr>
        <p:blipFill>
          <a:blip r:embed="rId3"/>
          <a:stretch>
            <a:fillRect/>
          </a:stretch>
        </p:blipFill>
        <p:spPr>
          <a:xfrm>
            <a:off x="6380683" y="2905963"/>
            <a:ext cx="405994" cy="405994"/>
          </a:xfrm>
          <a:prstGeom prst="rect">
            <a:avLst/>
          </a:prstGeom>
        </p:spPr>
      </p:pic>
      <p:sp>
        <p:nvSpPr>
          <p:cNvPr id="23" name="Text 18"/>
          <p:cNvSpPr/>
          <p:nvPr/>
        </p:nvSpPr>
        <p:spPr>
          <a:xfrm>
            <a:off x="6309360" y="3520440"/>
            <a:ext cx="2148840" cy="457200"/>
          </a:xfrm>
          <a:prstGeom prst="rect">
            <a:avLst/>
          </a:prstGeom>
          <a:noFill/>
          <a:ln/>
        </p:spPr>
        <p:txBody>
          <a:bodyPr wrap="square" lIns="0" tIns="0" rIns="0" bIns="0" rtlCol="0" anchor="ctr"/>
          <a:lstStyle/>
          <a:p>
            <a:pPr indent="0" marL="0">
              <a:buNone/>
            </a:pPr>
            <a:r>
              <a:rPr lang="en-US" sz="1400" b="1" dirty="0">
                <a:solidFill>
                  <a:srgbClr val="16213E"/>
                </a:solidFill>
                <a:latin typeface="Calibri" pitchFamily="34" charset="0"/>
                <a:ea typeface="Calibri" pitchFamily="34" charset="-122"/>
                <a:cs typeface="Calibri" pitchFamily="34" charset="-120"/>
              </a:rPr>
              <a:t>The Integrated Circuit</a:t>
            </a:r>
            <a:endParaRPr lang="en-US" sz="1400" dirty="0"/>
          </a:p>
        </p:txBody>
      </p:sp>
      <p:sp>
        <p:nvSpPr>
          <p:cNvPr id="24" name="Text 19"/>
          <p:cNvSpPr/>
          <p:nvPr/>
        </p:nvSpPr>
        <p:spPr>
          <a:xfrm>
            <a:off x="6309360" y="3977640"/>
            <a:ext cx="2148840" cy="1645920"/>
          </a:xfrm>
          <a:prstGeom prst="rect">
            <a:avLst/>
          </a:prstGeom>
          <a:noFill/>
          <a:ln/>
        </p:spPr>
        <p:txBody>
          <a:bodyPr wrap="square" lIns="0" tIns="0" rIns="0" bIns="0" rtlCol="0" anchor="ctr"/>
          <a:lstStyle/>
          <a:p>
            <a:pPr indent="0" marL="0">
              <a:buNone/>
            </a:pPr>
            <a:r>
              <a:rPr lang="en-US" sz="1100" dirty="0">
                <a:solidFill>
                  <a:srgbClr val="5B6B8C"/>
                </a:solidFill>
                <a:latin typeface="Calibri" pitchFamily="34" charset="0"/>
                <a:ea typeface="Calibri" pitchFamily="34" charset="-122"/>
                <a:cs typeface="Calibri" pitchFamily="34" charset="-120"/>
              </a:rPr>
              <a:t>Robert Noyce's integrated circuit lets many transistors work together, breaking the one-transistor-at-a-time bottleneck.</a:t>
            </a:r>
            <a:endParaRPr lang="en-US" sz="1100" dirty="0"/>
          </a:p>
        </p:txBody>
      </p:sp>
      <p:sp>
        <p:nvSpPr>
          <p:cNvPr id="25" name="Shape 20"/>
          <p:cNvSpPr/>
          <p:nvPr/>
        </p:nvSpPr>
        <p:spPr>
          <a:xfrm>
            <a:off x="8700516" y="3840480"/>
            <a:ext cx="109728" cy="109728"/>
          </a:xfrm>
          <a:prstGeom prst="ellipse">
            <a:avLst/>
          </a:prstGeom>
          <a:solidFill>
            <a:srgbClr val="FF7A30"/>
          </a:solidFill>
          <a:ln/>
        </p:spPr>
      </p:sp>
      <p:sp>
        <p:nvSpPr>
          <p:cNvPr id="26" name="Shape 21"/>
          <p:cNvSpPr/>
          <p:nvPr/>
        </p:nvSpPr>
        <p:spPr>
          <a:xfrm>
            <a:off x="8869680" y="2148840"/>
            <a:ext cx="2514600" cy="3566160"/>
          </a:xfrm>
          <a:prstGeom prst="roundRect">
            <a:avLst>
              <a:gd name="adj" fmla="val 2909"/>
            </a:avLst>
          </a:prstGeom>
          <a:solidFill>
            <a:srgbClr val="F3F6FA"/>
          </a:solidFill>
          <a:ln/>
          <a:effectLst>
            <a:outerShdw sx="100000" sy="100000" kx="0" ky="0" algn="bl" rotWithShape="0" blurRad="127000" dist="38100" dir="2700000">
              <a:srgbClr val="0B1F3A">
                <a:alpha val="12000"/>
              </a:srgbClr>
            </a:outerShdw>
          </a:effectLst>
        </p:spPr>
      </p:sp>
      <p:sp>
        <p:nvSpPr>
          <p:cNvPr id="27" name="Text 22"/>
          <p:cNvSpPr/>
          <p:nvPr/>
        </p:nvSpPr>
        <p:spPr>
          <a:xfrm>
            <a:off x="9052560" y="2331720"/>
            <a:ext cx="2148840" cy="365760"/>
          </a:xfrm>
          <a:prstGeom prst="rect">
            <a:avLst/>
          </a:prstGeom>
          <a:noFill/>
          <a:ln/>
        </p:spPr>
        <p:txBody>
          <a:bodyPr wrap="square" lIns="0" tIns="0" rIns="0" bIns="0" rtlCol="0" anchor="ctr"/>
          <a:lstStyle/>
          <a:p>
            <a:pPr indent="0" marL="0">
              <a:buNone/>
            </a:pPr>
            <a:r>
              <a:rPr lang="en-US" sz="2200" b="1" dirty="0">
                <a:solidFill>
                  <a:srgbClr val="0FB5C4"/>
                </a:solidFill>
                <a:latin typeface="Cambria" pitchFamily="34" charset="0"/>
                <a:ea typeface="Cambria" pitchFamily="34" charset="-122"/>
                <a:cs typeface="Cambria" pitchFamily="34" charset="-120"/>
              </a:rPr>
              <a:t>1971</a:t>
            </a:r>
            <a:endParaRPr lang="en-US" sz="2200" dirty="0"/>
          </a:p>
        </p:txBody>
      </p:sp>
      <p:sp>
        <p:nvSpPr>
          <p:cNvPr id="28" name="Shape 23"/>
          <p:cNvSpPr/>
          <p:nvPr/>
        </p:nvSpPr>
        <p:spPr>
          <a:xfrm>
            <a:off x="9052560" y="2834640"/>
            <a:ext cx="548640" cy="548640"/>
          </a:xfrm>
          <a:prstGeom prst="ellipse">
            <a:avLst/>
          </a:prstGeom>
          <a:solidFill>
            <a:srgbClr val="0B1F3A"/>
          </a:solidFill>
          <a:ln/>
        </p:spPr>
      </p:sp>
      <p:pic>
        <p:nvPicPr>
          <p:cNvPr id="29" name="Image 3" descr="preencoded.png">    </p:cNvPr>
          <p:cNvPicPr>
            <a:picLocks noChangeAspect="1"/>
          </p:cNvPicPr>
          <p:nvPr/>
        </p:nvPicPr>
        <p:blipFill>
          <a:blip r:embed="rId4"/>
          <a:stretch>
            <a:fillRect/>
          </a:stretch>
        </p:blipFill>
        <p:spPr>
          <a:xfrm>
            <a:off x="9123883" y="2905963"/>
            <a:ext cx="405994" cy="405994"/>
          </a:xfrm>
          <a:prstGeom prst="rect">
            <a:avLst/>
          </a:prstGeom>
        </p:spPr>
      </p:pic>
      <p:sp>
        <p:nvSpPr>
          <p:cNvPr id="30" name="Text 24"/>
          <p:cNvSpPr/>
          <p:nvPr/>
        </p:nvSpPr>
        <p:spPr>
          <a:xfrm>
            <a:off x="9052560" y="3520440"/>
            <a:ext cx="2148840" cy="457200"/>
          </a:xfrm>
          <a:prstGeom prst="rect">
            <a:avLst/>
          </a:prstGeom>
          <a:noFill/>
          <a:ln/>
        </p:spPr>
        <p:txBody>
          <a:bodyPr wrap="square" lIns="0" tIns="0" rIns="0" bIns="0" rtlCol="0" anchor="ctr"/>
          <a:lstStyle/>
          <a:p>
            <a:pPr indent="0" marL="0">
              <a:buNone/>
            </a:pPr>
            <a:r>
              <a:rPr lang="en-US" sz="1400" b="1" dirty="0">
                <a:solidFill>
                  <a:srgbClr val="16213E"/>
                </a:solidFill>
                <a:latin typeface="Calibri" pitchFamily="34" charset="0"/>
                <a:ea typeface="Calibri" pitchFamily="34" charset="-122"/>
                <a:cs typeface="Calibri" pitchFamily="34" charset="-120"/>
              </a:rPr>
              <a:t>The Microprocessor</a:t>
            </a:r>
            <a:endParaRPr lang="en-US" sz="1400" dirty="0"/>
          </a:p>
        </p:txBody>
      </p:sp>
      <p:sp>
        <p:nvSpPr>
          <p:cNvPr id="31" name="Text 25"/>
          <p:cNvSpPr/>
          <p:nvPr/>
        </p:nvSpPr>
        <p:spPr>
          <a:xfrm>
            <a:off x="9052560" y="3977640"/>
            <a:ext cx="2148840" cy="1645920"/>
          </a:xfrm>
          <a:prstGeom prst="rect">
            <a:avLst/>
          </a:prstGeom>
          <a:noFill/>
          <a:ln/>
        </p:spPr>
        <p:txBody>
          <a:bodyPr wrap="square" lIns="0" tIns="0" rIns="0" bIns="0" rtlCol="0" anchor="ctr"/>
          <a:lstStyle/>
          <a:p>
            <a:pPr indent="0" marL="0">
              <a:buNone/>
            </a:pPr>
            <a:r>
              <a:rPr lang="en-US" sz="1100" dirty="0">
                <a:solidFill>
                  <a:srgbClr val="5B6B8C"/>
                </a:solidFill>
                <a:latin typeface="Calibri" pitchFamily="34" charset="0"/>
                <a:ea typeface="Calibri" pitchFamily="34" charset="-122"/>
                <a:cs typeface="Calibri" pitchFamily="34" charset="-120"/>
              </a:rPr>
              <a:t>Intel's 4004 shrinks a computer onto a single chip, putting real computing power on a desk for the first time.</a:t>
            </a:r>
            <a:endParaRPr lang="en-US" sz="1100" dirty="0"/>
          </a:p>
        </p:txBody>
      </p:sp>
      <p:sp>
        <p:nvSpPr>
          <p:cNvPr id="32" name="Text 26"/>
          <p:cNvSpPr/>
          <p:nvPr/>
        </p:nvSpPr>
        <p:spPr>
          <a:xfrm>
            <a:off x="640080" y="5897880"/>
            <a:ext cx="10881360" cy="457200"/>
          </a:xfrm>
          <a:prstGeom prst="rect">
            <a:avLst/>
          </a:prstGeom>
          <a:noFill/>
          <a:ln/>
        </p:spPr>
        <p:txBody>
          <a:bodyPr wrap="square" lIns="0" tIns="0" rIns="0" bIns="0" rtlCol="0" anchor="ctr"/>
          <a:lstStyle/>
          <a:p>
            <a:pPr indent="0" marL="0">
              <a:buNone/>
            </a:pPr>
            <a:r>
              <a:rPr lang="en-US" sz="1150" i="1" dirty="0">
                <a:solidFill>
                  <a:srgbClr val="5B6B8C"/>
                </a:solidFill>
                <a:latin typeface="Calibri" pitchFamily="34" charset="0"/>
                <a:ea typeface="Calibri" pitchFamily="34" charset="-122"/>
                <a:cs typeface="Calibri" pitchFamily="34" charset="-120"/>
              </a:rPr>
              <a:t>By the late 1970s, Fairchild's spin-offs — including Intel and AMD — traced over 90% of the world's computing power to a single lineage.</a:t>
            </a:r>
            <a:endParaRPr lang="en-US" sz="1150" dirty="0"/>
          </a:p>
        </p:txBody>
      </p:sp>
      <p:sp>
        <p:nvSpPr>
          <p:cNvPr id="33" name="Text 27"/>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A8B3C7"/>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502920"/>
            <a:ext cx="731520" cy="731520"/>
          </a:xfrm>
          <a:prstGeom prst="ellipse">
            <a:avLst/>
          </a:prstGeom>
          <a:solidFill>
            <a:srgbClr val="13294B"/>
          </a:solidFill>
          <a:ln/>
        </p:spPr>
      </p:sp>
      <p:pic>
        <p:nvPicPr>
          <p:cNvPr id="3" name="Image 0" descr="preencoded.png">    </p:cNvPr>
          <p:cNvPicPr>
            <a:picLocks noChangeAspect="1"/>
          </p:cNvPicPr>
          <p:nvPr/>
        </p:nvPicPr>
        <p:blipFill>
          <a:blip r:embed="rId1"/>
          <a:stretch>
            <a:fillRect/>
          </a:stretch>
        </p:blipFill>
        <p:spPr>
          <a:xfrm>
            <a:off x="735178" y="598018"/>
            <a:ext cx="541325" cy="541325"/>
          </a:xfrm>
          <a:prstGeom prst="rect">
            <a:avLst/>
          </a:prstGeom>
        </p:spPr>
      </p:pic>
      <p:sp>
        <p:nvSpPr>
          <p:cNvPr id="4" name="Text 1"/>
          <p:cNvSpPr/>
          <p:nvPr/>
        </p:nvSpPr>
        <p:spPr>
          <a:xfrm>
            <a:off x="1554480" y="594360"/>
            <a:ext cx="5486400" cy="320040"/>
          </a:xfrm>
          <a:prstGeom prst="rect">
            <a:avLst/>
          </a:prstGeom>
          <a:noFill/>
          <a:ln/>
        </p:spPr>
        <p:txBody>
          <a:bodyPr wrap="square" lIns="0" tIns="0" rIns="0" bIns="0" rtlCol="0" anchor="ctr"/>
          <a:lstStyle/>
          <a:p>
            <a:pPr indent="0" marL="0">
              <a:buNone/>
            </a:pPr>
            <a:r>
              <a:rPr lang="en-US" sz="1300" b="1" spc="200" kern="0" dirty="0">
                <a:solidFill>
                  <a:srgbClr val="0FB5C4"/>
                </a:solidFill>
                <a:latin typeface="Calibri" pitchFamily="34" charset="0"/>
                <a:ea typeface="Calibri" pitchFamily="34" charset="-122"/>
                <a:cs typeface="Calibri" pitchFamily="34" charset="-120"/>
              </a:rPr>
              <a:t>AI WINTER NO. 1 — 1974–1980</a:t>
            </a:r>
            <a:endParaRPr lang="en-US" sz="1300" dirty="0"/>
          </a:p>
        </p:txBody>
      </p:sp>
      <p:sp>
        <p:nvSpPr>
          <p:cNvPr id="5" name="Text 2"/>
          <p:cNvSpPr/>
          <p:nvPr/>
        </p:nvSpPr>
        <p:spPr>
          <a:xfrm>
            <a:off x="1554480" y="914400"/>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First AI Winter</a:t>
            </a:r>
            <a:endParaRPr lang="en-US" sz="3200" dirty="0"/>
          </a:p>
        </p:txBody>
      </p:sp>
      <p:sp>
        <p:nvSpPr>
          <p:cNvPr id="6" name="Text 3"/>
          <p:cNvSpPr/>
          <p:nvPr/>
        </p:nvSpPr>
        <p:spPr>
          <a:xfrm>
            <a:off x="640080" y="1828800"/>
            <a:ext cx="5029200" cy="320040"/>
          </a:xfrm>
          <a:prstGeom prst="rect">
            <a:avLst/>
          </a:prstGeom>
          <a:noFill/>
          <a:ln/>
        </p:spPr>
        <p:txBody>
          <a:bodyPr wrap="square" lIns="0" tIns="0" rIns="0" bIns="0" rtlCol="0" anchor="ctr"/>
          <a:lstStyle/>
          <a:p>
            <a:pPr indent="0" marL="0">
              <a:buNone/>
            </a:pPr>
            <a:r>
              <a:rPr lang="en-US" sz="1400" b="1" spc="200" kern="0" dirty="0">
                <a:solidFill>
                  <a:srgbClr val="FF7A30"/>
                </a:solidFill>
                <a:latin typeface="Calibri" pitchFamily="34" charset="0"/>
                <a:ea typeface="Calibri" pitchFamily="34" charset="-122"/>
                <a:cs typeface="Calibri" pitchFamily="34" charset="-120"/>
              </a:rPr>
              <a:t>CAUSES</a:t>
            </a:r>
            <a:endParaRPr lang="en-US" sz="1400" dirty="0"/>
          </a:p>
        </p:txBody>
      </p:sp>
      <p:sp>
        <p:nvSpPr>
          <p:cNvPr id="7" name="Shape 4"/>
          <p:cNvSpPr/>
          <p:nvPr/>
        </p:nvSpPr>
        <p:spPr>
          <a:xfrm>
            <a:off x="640080" y="2249424"/>
            <a:ext cx="91440" cy="91440"/>
          </a:xfrm>
          <a:prstGeom prst="ellipse">
            <a:avLst/>
          </a:prstGeom>
          <a:solidFill>
            <a:srgbClr val="0FB5C4"/>
          </a:solidFill>
          <a:ln/>
        </p:spPr>
      </p:sp>
      <p:sp>
        <p:nvSpPr>
          <p:cNvPr id="8" name="Text 5"/>
          <p:cNvSpPr/>
          <p:nvPr/>
        </p:nvSpPr>
        <p:spPr>
          <a:xfrm>
            <a:off x="868680" y="2121408"/>
            <a:ext cx="5029200" cy="1005840"/>
          </a:xfrm>
          <a:prstGeom prst="rect">
            <a:avLst/>
          </a:prstGeom>
          <a:noFill/>
          <a:ln/>
        </p:spPr>
        <p:txBody>
          <a:bodyPr wrap="square" lIns="0" tIns="0" rIns="0" bIns="0" rtlCol="0" anchor="ctr"/>
          <a:lstStyle/>
          <a:p>
            <a:pPr indent="0" marL="0">
              <a:lnSpc>
                <a:spcPct val="110000"/>
              </a:lnSpc>
              <a:buNone/>
            </a:pPr>
            <a:r>
              <a:rPr lang="en-US" sz="1150" dirty="0">
                <a:solidFill>
                  <a:srgbClr val="CFE8F3"/>
                </a:solidFill>
                <a:latin typeface="Calibri" pitchFamily="34" charset="0"/>
                <a:ea typeface="Calibri" pitchFamily="34" charset="-122"/>
                <a:cs typeface="Calibri" pitchFamily="34" charset="-120"/>
              </a:rPr>
              <a:t>The 1973 Lighthill Report to the UK government concluded AI had failed to deliver on its “grandiose objectives,” triggering deep funding cuts at British universities.</a:t>
            </a:r>
            <a:endParaRPr lang="en-US" sz="1150" dirty="0"/>
          </a:p>
        </p:txBody>
      </p:sp>
      <p:sp>
        <p:nvSpPr>
          <p:cNvPr id="9" name="Shape 6"/>
          <p:cNvSpPr/>
          <p:nvPr/>
        </p:nvSpPr>
        <p:spPr>
          <a:xfrm>
            <a:off x="640080" y="3483864"/>
            <a:ext cx="91440" cy="91440"/>
          </a:xfrm>
          <a:prstGeom prst="ellipse">
            <a:avLst/>
          </a:prstGeom>
          <a:solidFill>
            <a:srgbClr val="0FB5C4"/>
          </a:solidFill>
          <a:ln/>
        </p:spPr>
      </p:sp>
      <p:sp>
        <p:nvSpPr>
          <p:cNvPr id="10" name="Text 7"/>
          <p:cNvSpPr/>
          <p:nvPr/>
        </p:nvSpPr>
        <p:spPr>
          <a:xfrm>
            <a:off x="868680" y="3355848"/>
            <a:ext cx="5029200" cy="1005840"/>
          </a:xfrm>
          <a:prstGeom prst="rect">
            <a:avLst/>
          </a:prstGeom>
          <a:noFill/>
          <a:ln/>
        </p:spPr>
        <p:txBody>
          <a:bodyPr wrap="square" lIns="0" tIns="0" rIns="0" bIns="0" rtlCol="0" anchor="ctr"/>
          <a:lstStyle/>
          <a:p>
            <a:pPr indent="0" marL="0">
              <a:lnSpc>
                <a:spcPct val="110000"/>
              </a:lnSpc>
              <a:buNone/>
            </a:pPr>
            <a:r>
              <a:rPr lang="en-US" sz="1150" dirty="0">
                <a:solidFill>
                  <a:srgbClr val="CFE8F3"/>
                </a:solidFill>
                <a:latin typeface="Calibri" pitchFamily="34" charset="0"/>
                <a:ea typeface="Calibri" pitchFamily="34" charset="-122"/>
                <a:cs typeface="Calibri" pitchFamily="34" charset="-120"/>
              </a:rPr>
              <a:t>The 1969 Mansfield Amendment forced DARPA to fund only mission-focused research, and by 1974 the agency withdrew support from major AI projects like speech recognition at Carnegie Mellon.</a:t>
            </a:r>
            <a:endParaRPr lang="en-US" sz="1150" dirty="0"/>
          </a:p>
        </p:txBody>
      </p:sp>
      <p:sp>
        <p:nvSpPr>
          <p:cNvPr id="11" name="Shape 8"/>
          <p:cNvSpPr/>
          <p:nvPr/>
        </p:nvSpPr>
        <p:spPr>
          <a:xfrm>
            <a:off x="640080" y="4718304"/>
            <a:ext cx="91440" cy="91440"/>
          </a:xfrm>
          <a:prstGeom prst="ellipse">
            <a:avLst/>
          </a:prstGeom>
          <a:solidFill>
            <a:srgbClr val="0FB5C4"/>
          </a:solidFill>
          <a:ln/>
        </p:spPr>
      </p:sp>
      <p:sp>
        <p:nvSpPr>
          <p:cNvPr id="12" name="Text 9"/>
          <p:cNvSpPr/>
          <p:nvPr/>
        </p:nvSpPr>
        <p:spPr>
          <a:xfrm>
            <a:off x="868680" y="4590288"/>
            <a:ext cx="5029200" cy="1005840"/>
          </a:xfrm>
          <a:prstGeom prst="rect">
            <a:avLst/>
          </a:prstGeom>
          <a:noFill/>
          <a:ln/>
        </p:spPr>
        <p:txBody>
          <a:bodyPr wrap="square" lIns="0" tIns="0" rIns="0" bIns="0" rtlCol="0" anchor="ctr"/>
          <a:lstStyle/>
          <a:p>
            <a:pPr indent="0" marL="0">
              <a:lnSpc>
                <a:spcPct val="110000"/>
              </a:lnSpc>
              <a:buNone/>
            </a:pPr>
            <a:r>
              <a:rPr lang="en-US" sz="1150" dirty="0">
                <a:solidFill>
                  <a:srgbClr val="CFE8F3"/>
                </a:solidFill>
                <a:latin typeface="Calibri" pitchFamily="34" charset="0"/>
                <a:ea typeface="Calibri" pitchFamily="34" charset="-122"/>
                <a:cs typeface="Calibri" pitchFamily="34" charset="-120"/>
              </a:rPr>
              <a:t>Early neural networks (like the perceptron) hit hard theoretical limits, and machine translation failed to meet inflated promises.</a:t>
            </a:r>
            <a:endParaRPr lang="en-US" sz="1150" dirty="0"/>
          </a:p>
        </p:txBody>
      </p:sp>
      <p:sp>
        <p:nvSpPr>
          <p:cNvPr id="13" name="Shape 10"/>
          <p:cNvSpPr/>
          <p:nvPr/>
        </p:nvSpPr>
        <p:spPr>
          <a:xfrm>
            <a:off x="6035040" y="1874520"/>
            <a:ext cx="0" cy="4206240"/>
          </a:xfrm>
          <a:prstGeom prst="line">
            <a:avLst/>
          </a:prstGeom>
          <a:noFill/>
          <a:ln w="12700">
            <a:solidFill>
              <a:srgbClr val="2A3F63"/>
            </a:solidFill>
            <a:prstDash val="solid"/>
          </a:ln>
        </p:spPr>
      </p:sp>
      <p:sp>
        <p:nvSpPr>
          <p:cNvPr id="14" name="Text 11"/>
          <p:cNvSpPr/>
          <p:nvPr/>
        </p:nvSpPr>
        <p:spPr>
          <a:xfrm>
            <a:off x="6309360" y="1828800"/>
            <a:ext cx="5029200" cy="320040"/>
          </a:xfrm>
          <a:prstGeom prst="rect">
            <a:avLst/>
          </a:prstGeom>
          <a:noFill/>
          <a:ln/>
        </p:spPr>
        <p:txBody>
          <a:bodyPr wrap="square" lIns="0" tIns="0" rIns="0" bIns="0" rtlCol="0" anchor="ctr"/>
          <a:lstStyle/>
          <a:p>
            <a:pPr indent="0" marL="0">
              <a:buNone/>
            </a:pPr>
            <a:r>
              <a:rPr lang="en-US" sz="1400" b="1" spc="200" kern="0" dirty="0">
                <a:solidFill>
                  <a:srgbClr val="FF7A30"/>
                </a:solidFill>
                <a:latin typeface="Calibri" pitchFamily="34" charset="0"/>
                <a:ea typeface="Calibri" pitchFamily="34" charset="-122"/>
                <a:cs typeface="Calibri" pitchFamily="34" charset="-120"/>
              </a:rPr>
              <a:t>IMPACT</a:t>
            </a:r>
            <a:endParaRPr lang="en-US" sz="1400" dirty="0"/>
          </a:p>
        </p:txBody>
      </p:sp>
      <p:sp>
        <p:nvSpPr>
          <p:cNvPr id="15" name="Shape 12"/>
          <p:cNvSpPr/>
          <p:nvPr/>
        </p:nvSpPr>
        <p:spPr>
          <a:xfrm>
            <a:off x="6309360" y="2249424"/>
            <a:ext cx="91440" cy="91440"/>
          </a:xfrm>
          <a:prstGeom prst="ellipse">
            <a:avLst/>
          </a:prstGeom>
          <a:solidFill>
            <a:srgbClr val="0FB5C4"/>
          </a:solidFill>
          <a:ln/>
        </p:spPr>
      </p:sp>
      <p:sp>
        <p:nvSpPr>
          <p:cNvPr id="16" name="Text 13"/>
          <p:cNvSpPr/>
          <p:nvPr/>
        </p:nvSpPr>
        <p:spPr>
          <a:xfrm>
            <a:off x="6537960" y="2121408"/>
            <a:ext cx="5029200" cy="1005840"/>
          </a:xfrm>
          <a:prstGeom prst="rect">
            <a:avLst/>
          </a:prstGeom>
          <a:noFill/>
          <a:ln/>
        </p:spPr>
        <p:txBody>
          <a:bodyPr wrap="square" lIns="0" tIns="0" rIns="0" bIns="0" rtlCol="0" anchor="ctr"/>
          <a:lstStyle/>
          <a:p>
            <a:pPr indent="0" marL="0">
              <a:lnSpc>
                <a:spcPct val="110000"/>
              </a:lnSpc>
              <a:buNone/>
            </a:pPr>
            <a:r>
              <a:rPr lang="en-US" sz="1150" dirty="0">
                <a:solidFill>
                  <a:srgbClr val="CFE8F3"/>
                </a:solidFill>
                <a:latin typeface="Calibri" pitchFamily="34" charset="0"/>
                <a:ea typeface="Calibri" pitchFamily="34" charset="-122"/>
                <a:cs typeface="Calibri" pitchFamily="34" charset="-120"/>
              </a:rPr>
              <a:t>Prominent AI labs closed or pivoted away from core research; many researchers left the field entirely for more stable disciplines.</a:t>
            </a:r>
            <a:endParaRPr lang="en-US" sz="1150" dirty="0"/>
          </a:p>
        </p:txBody>
      </p:sp>
      <p:sp>
        <p:nvSpPr>
          <p:cNvPr id="17" name="Shape 14"/>
          <p:cNvSpPr/>
          <p:nvPr/>
        </p:nvSpPr>
        <p:spPr>
          <a:xfrm>
            <a:off x="6309360" y="3483864"/>
            <a:ext cx="91440" cy="91440"/>
          </a:xfrm>
          <a:prstGeom prst="ellipse">
            <a:avLst/>
          </a:prstGeom>
          <a:solidFill>
            <a:srgbClr val="0FB5C4"/>
          </a:solidFill>
          <a:ln/>
        </p:spPr>
      </p:sp>
      <p:sp>
        <p:nvSpPr>
          <p:cNvPr id="18" name="Text 15"/>
          <p:cNvSpPr/>
          <p:nvPr/>
        </p:nvSpPr>
        <p:spPr>
          <a:xfrm>
            <a:off x="6537960" y="3355848"/>
            <a:ext cx="5029200" cy="1005840"/>
          </a:xfrm>
          <a:prstGeom prst="rect">
            <a:avLst/>
          </a:prstGeom>
          <a:noFill/>
          <a:ln/>
        </p:spPr>
        <p:txBody>
          <a:bodyPr wrap="square" lIns="0" tIns="0" rIns="0" bIns="0" rtlCol="0" anchor="ctr"/>
          <a:lstStyle/>
          <a:p>
            <a:pPr indent="0" marL="0">
              <a:lnSpc>
                <a:spcPct val="110000"/>
              </a:lnSpc>
              <a:buNone/>
            </a:pPr>
            <a:r>
              <a:rPr lang="en-US" sz="1150" dirty="0">
                <a:solidFill>
                  <a:srgbClr val="CFE8F3"/>
                </a:solidFill>
                <a:latin typeface="Calibri" pitchFamily="34" charset="0"/>
                <a:ea typeface="Calibri" pitchFamily="34" charset="-122"/>
                <a:cs typeface="Calibri" pitchFamily="34" charset="-120"/>
              </a:rPr>
              <a:t>“Artificial intelligence” became a toxic phrase in funding proposals — scientists rebranded their work as “informatics” or “pattern recognition” to stay funded.</a:t>
            </a:r>
            <a:endParaRPr lang="en-US" sz="1150" dirty="0"/>
          </a:p>
        </p:txBody>
      </p:sp>
      <p:sp>
        <p:nvSpPr>
          <p:cNvPr id="19" name="Shape 16"/>
          <p:cNvSpPr/>
          <p:nvPr/>
        </p:nvSpPr>
        <p:spPr>
          <a:xfrm>
            <a:off x="6309360" y="4718304"/>
            <a:ext cx="91440" cy="91440"/>
          </a:xfrm>
          <a:prstGeom prst="ellipse">
            <a:avLst/>
          </a:prstGeom>
          <a:solidFill>
            <a:srgbClr val="0FB5C4"/>
          </a:solidFill>
          <a:ln/>
        </p:spPr>
      </p:sp>
      <p:sp>
        <p:nvSpPr>
          <p:cNvPr id="20" name="Text 17"/>
          <p:cNvSpPr/>
          <p:nvPr/>
        </p:nvSpPr>
        <p:spPr>
          <a:xfrm>
            <a:off x="6537960" y="4590288"/>
            <a:ext cx="5029200" cy="1005840"/>
          </a:xfrm>
          <a:prstGeom prst="rect">
            <a:avLst/>
          </a:prstGeom>
          <a:noFill/>
          <a:ln/>
        </p:spPr>
        <p:txBody>
          <a:bodyPr wrap="square" lIns="0" tIns="0" rIns="0" bIns="0" rtlCol="0" anchor="ctr"/>
          <a:lstStyle/>
          <a:p>
            <a:pPr indent="0" marL="0">
              <a:lnSpc>
                <a:spcPct val="110000"/>
              </a:lnSpc>
              <a:buNone/>
            </a:pPr>
            <a:r>
              <a:rPr lang="en-US" sz="1150" dirty="0">
                <a:solidFill>
                  <a:srgbClr val="CFE8F3"/>
                </a:solidFill>
                <a:latin typeface="Calibri" pitchFamily="34" charset="0"/>
                <a:ea typeface="Calibri" pitchFamily="34" charset="-122"/>
                <a:cs typeface="Calibri" pitchFamily="34" charset="-120"/>
              </a:rPr>
              <a:t>Research survived only in small, quiet circles — setting the stage for a cautious revival through commercial expert systems in the 1980s.</a:t>
            </a:r>
            <a:endParaRPr lang="en-US" sz="1150" dirty="0"/>
          </a:p>
        </p:txBody>
      </p:sp>
      <p:sp>
        <p:nvSpPr>
          <p:cNvPr id="21" name="Text 18"/>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6E85AD"/>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lIns="0" tIns="0" rIns="0" bIns="0" rtlCol="0" anchor="ctr"/>
          <a:lstStyle/>
          <a:p>
            <a:pPr indent="0" marL="0">
              <a:buNone/>
            </a:pPr>
            <a:r>
              <a:rPr lang="en-US" sz="1300" b="1" spc="200" kern="0" dirty="0">
                <a:solidFill>
                  <a:srgbClr val="0FB5C4"/>
                </a:solidFill>
                <a:latin typeface="Calibri" pitchFamily="34" charset="0"/>
                <a:ea typeface="Calibri" pitchFamily="34" charset="-122"/>
                <a:cs typeface="Calibri" pitchFamily="34" charset="-120"/>
              </a:rPr>
              <a:t>1980 – 1986</a:t>
            </a:r>
            <a:endParaRPr lang="en-US" sz="1300" dirty="0"/>
          </a:p>
        </p:txBody>
      </p:sp>
      <p:sp>
        <p:nvSpPr>
          <p:cNvPr id="3" name="Text 1"/>
          <p:cNvSpPr/>
          <p:nvPr/>
        </p:nvSpPr>
        <p:spPr>
          <a:xfrm>
            <a:off x="640080" y="777240"/>
            <a:ext cx="10058400" cy="64008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Revival: The Expert Systems Boom</a:t>
            </a:r>
            <a:endParaRPr lang="en-US" sz="3000" dirty="0"/>
          </a:p>
        </p:txBody>
      </p:sp>
      <p:sp>
        <p:nvSpPr>
          <p:cNvPr id="4" name="Text 2"/>
          <p:cNvSpPr/>
          <p:nvPr/>
        </p:nvSpPr>
        <p:spPr>
          <a:xfrm>
            <a:off x="640080" y="1371600"/>
            <a:ext cx="10332720" cy="365760"/>
          </a:xfrm>
          <a:prstGeom prst="rect">
            <a:avLst/>
          </a:prstGeom>
          <a:noFill/>
          <a:ln/>
        </p:spPr>
        <p:txBody>
          <a:bodyPr wrap="square" lIns="0" tIns="0" rIns="0" bIns="0" rtlCol="0" anchor="ctr"/>
          <a:lstStyle/>
          <a:p>
            <a:pPr indent="0" marL="0">
              <a:buNone/>
            </a:pPr>
            <a:r>
              <a:rPr lang="en-US" sz="1350" dirty="0">
                <a:solidFill>
                  <a:srgbClr val="5B6B8C"/>
                </a:solidFill>
                <a:latin typeface="Calibri" pitchFamily="34" charset="0"/>
                <a:ea typeface="Calibri" pitchFamily="34" charset="-122"/>
                <a:cs typeface="Calibri" pitchFamily="34" charset="-120"/>
              </a:rPr>
              <a:t>A more modest, commercial approach to AI brought funding and optimism roaring back — for a while.</a:t>
            </a:r>
            <a:endParaRPr lang="en-US" sz="1350" dirty="0"/>
          </a:p>
        </p:txBody>
      </p:sp>
      <p:sp>
        <p:nvSpPr>
          <p:cNvPr id="5" name="Shape 3"/>
          <p:cNvSpPr/>
          <p:nvPr/>
        </p:nvSpPr>
        <p:spPr>
          <a:xfrm>
            <a:off x="640080" y="2011680"/>
            <a:ext cx="3520440" cy="2834640"/>
          </a:xfrm>
          <a:prstGeom prst="roundRect">
            <a:avLst>
              <a:gd name="adj" fmla="val 2581"/>
            </a:avLst>
          </a:prstGeom>
          <a:solidFill>
            <a:srgbClr val="F3F6FA"/>
          </a:solidFill>
          <a:ln/>
          <a:effectLst>
            <a:outerShdw sx="100000" sy="100000" kx="0" ky="0" algn="bl" rotWithShape="0" blurRad="127000" dist="38100" dir="2700000">
              <a:srgbClr val="0B1F3A">
                <a:alpha val="12000"/>
              </a:srgbClr>
            </a:outerShdw>
          </a:effectLst>
        </p:spPr>
      </p:sp>
      <p:sp>
        <p:nvSpPr>
          <p:cNvPr id="6" name="Shape 4"/>
          <p:cNvSpPr/>
          <p:nvPr/>
        </p:nvSpPr>
        <p:spPr>
          <a:xfrm>
            <a:off x="4343400" y="2011680"/>
            <a:ext cx="3520440" cy="2834640"/>
          </a:xfrm>
          <a:prstGeom prst="roundRect">
            <a:avLst>
              <a:gd name="adj" fmla="val 2581"/>
            </a:avLst>
          </a:prstGeom>
          <a:solidFill>
            <a:srgbClr val="F3F6FA"/>
          </a:solidFill>
          <a:ln/>
          <a:effectLst>
            <a:outerShdw sx="100000" sy="100000" kx="0" ky="0" algn="bl" rotWithShape="0" blurRad="127000" dist="38100" dir="2700000">
              <a:srgbClr val="0B1F3A">
                <a:alpha val="12000"/>
              </a:srgbClr>
            </a:outerShdw>
          </a:effectLst>
        </p:spPr>
      </p:sp>
      <p:sp>
        <p:nvSpPr>
          <p:cNvPr id="7" name="Shape 5"/>
          <p:cNvSpPr/>
          <p:nvPr/>
        </p:nvSpPr>
        <p:spPr>
          <a:xfrm>
            <a:off x="8046720" y="2011680"/>
            <a:ext cx="3520440" cy="2834640"/>
          </a:xfrm>
          <a:prstGeom prst="roundRect">
            <a:avLst>
              <a:gd name="adj" fmla="val 2581"/>
            </a:avLst>
          </a:prstGeom>
          <a:solidFill>
            <a:srgbClr val="F3F6FA"/>
          </a:solidFill>
          <a:ln/>
          <a:effectLst>
            <a:outerShdw sx="100000" sy="100000" kx="0" ky="0" algn="bl" rotWithShape="0" blurRad="127000" dist="38100" dir="2700000">
              <a:srgbClr val="0B1F3A">
                <a:alpha val="12000"/>
              </a:srgbClr>
            </a:outerShdw>
          </a:effectLst>
        </p:spPr>
      </p:sp>
      <p:sp>
        <p:nvSpPr>
          <p:cNvPr id="8" name="Shape 6"/>
          <p:cNvSpPr/>
          <p:nvPr/>
        </p:nvSpPr>
        <p:spPr>
          <a:xfrm>
            <a:off x="914400" y="2286000"/>
            <a:ext cx="640080" cy="640080"/>
          </a:xfrm>
          <a:prstGeom prst="ellipse">
            <a:avLst/>
          </a:prstGeom>
          <a:solidFill>
            <a:srgbClr val="FFFFFF"/>
          </a:solidFill>
          <a:ln/>
        </p:spPr>
      </p:sp>
      <p:pic>
        <p:nvPicPr>
          <p:cNvPr id="9" name="Image 0" descr="preencoded.png">    </p:cNvPr>
          <p:cNvPicPr>
            <a:picLocks noChangeAspect="1"/>
          </p:cNvPicPr>
          <p:nvPr/>
        </p:nvPicPr>
        <p:blipFill>
          <a:blip r:embed="rId1"/>
          <a:stretch>
            <a:fillRect/>
          </a:stretch>
        </p:blipFill>
        <p:spPr>
          <a:xfrm>
            <a:off x="997610" y="2369210"/>
            <a:ext cx="473659" cy="473659"/>
          </a:xfrm>
          <a:prstGeom prst="rect">
            <a:avLst/>
          </a:prstGeom>
        </p:spPr>
      </p:pic>
      <p:sp>
        <p:nvSpPr>
          <p:cNvPr id="10" name="Text 7"/>
          <p:cNvSpPr/>
          <p:nvPr/>
        </p:nvSpPr>
        <p:spPr>
          <a:xfrm>
            <a:off x="914400" y="3063240"/>
            <a:ext cx="2971800" cy="365760"/>
          </a:xfrm>
          <a:prstGeom prst="rect">
            <a:avLst/>
          </a:prstGeom>
          <a:noFill/>
          <a:ln/>
        </p:spPr>
        <p:txBody>
          <a:bodyPr wrap="square" lIns="0" tIns="0" rIns="0" bIns="0"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Expert Systems</a:t>
            </a:r>
            <a:endParaRPr lang="en-US" sz="1500" dirty="0"/>
          </a:p>
        </p:txBody>
      </p:sp>
      <p:sp>
        <p:nvSpPr>
          <p:cNvPr id="11" name="Text 8"/>
          <p:cNvSpPr/>
          <p:nvPr/>
        </p:nvSpPr>
        <p:spPr>
          <a:xfrm>
            <a:off x="914400" y="3474720"/>
            <a:ext cx="2971800" cy="1280160"/>
          </a:xfrm>
          <a:prstGeom prst="rect">
            <a:avLst/>
          </a:prstGeom>
          <a:noFill/>
          <a:ln/>
        </p:spPr>
        <p:txBody>
          <a:bodyPr wrap="square" lIns="0" tIns="0" rIns="0" bIns="0" rtlCol="0" anchor="ctr"/>
          <a:lstStyle/>
          <a:p>
            <a:pPr indent="0" marL="0">
              <a:buNone/>
            </a:pPr>
            <a:r>
              <a:rPr lang="en-US" sz="1150" dirty="0">
                <a:solidFill>
                  <a:srgbClr val="5B6B8C"/>
                </a:solidFill>
                <a:latin typeface="Calibri" pitchFamily="34" charset="0"/>
                <a:ea typeface="Calibri" pitchFamily="34" charset="-122"/>
                <a:cs typeface="Calibri" pitchFamily="34" charset="-120"/>
              </a:rPr>
              <a:t>Rule-based programs mimicked specialist decision-making in medicine and finance, becoming the first commercially successful AI products.</a:t>
            </a:r>
            <a:endParaRPr lang="en-US" sz="1150" dirty="0"/>
          </a:p>
        </p:txBody>
      </p:sp>
      <p:sp>
        <p:nvSpPr>
          <p:cNvPr id="12" name="Shape 9"/>
          <p:cNvSpPr/>
          <p:nvPr/>
        </p:nvSpPr>
        <p:spPr>
          <a:xfrm>
            <a:off x="4617720" y="2286000"/>
            <a:ext cx="640080" cy="640080"/>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4700930" y="2369210"/>
            <a:ext cx="473659" cy="473659"/>
          </a:xfrm>
          <a:prstGeom prst="rect">
            <a:avLst/>
          </a:prstGeom>
        </p:spPr>
      </p:pic>
      <p:sp>
        <p:nvSpPr>
          <p:cNvPr id="14" name="Text 10"/>
          <p:cNvSpPr/>
          <p:nvPr/>
        </p:nvSpPr>
        <p:spPr>
          <a:xfrm>
            <a:off x="4617720" y="3063240"/>
            <a:ext cx="2971800" cy="365760"/>
          </a:xfrm>
          <a:prstGeom prst="rect">
            <a:avLst/>
          </a:prstGeom>
          <a:noFill/>
          <a:ln/>
        </p:spPr>
        <p:txBody>
          <a:bodyPr wrap="square" lIns="0" tIns="0" rIns="0" bIns="0"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LISP Machines</a:t>
            </a:r>
            <a:endParaRPr lang="en-US" sz="1500" dirty="0"/>
          </a:p>
        </p:txBody>
      </p:sp>
      <p:sp>
        <p:nvSpPr>
          <p:cNvPr id="15" name="Text 11"/>
          <p:cNvSpPr/>
          <p:nvPr/>
        </p:nvSpPr>
        <p:spPr>
          <a:xfrm>
            <a:off x="4617720" y="3474720"/>
            <a:ext cx="2971800" cy="1280160"/>
          </a:xfrm>
          <a:prstGeom prst="rect">
            <a:avLst/>
          </a:prstGeom>
          <a:noFill/>
          <a:ln/>
        </p:spPr>
        <p:txBody>
          <a:bodyPr wrap="square" lIns="0" tIns="0" rIns="0" bIns="0" rtlCol="0" anchor="ctr"/>
          <a:lstStyle/>
          <a:p>
            <a:pPr indent="0" marL="0">
              <a:buNone/>
            </a:pPr>
            <a:r>
              <a:rPr lang="en-US" sz="1150" dirty="0">
                <a:solidFill>
                  <a:srgbClr val="5B6B8C"/>
                </a:solidFill>
                <a:latin typeface="Calibri" pitchFamily="34" charset="0"/>
                <a:ea typeface="Calibri" pitchFamily="34" charset="-122"/>
                <a:cs typeface="Calibri" pitchFamily="34" charset="-120"/>
              </a:rPr>
              <a:t>Specialized workstations built to run AI software created an entire hardware industry — and a speculative boom.</a:t>
            </a:r>
            <a:endParaRPr lang="en-US" sz="1150" dirty="0"/>
          </a:p>
        </p:txBody>
      </p:sp>
      <p:sp>
        <p:nvSpPr>
          <p:cNvPr id="16" name="Shape 12"/>
          <p:cNvSpPr/>
          <p:nvPr/>
        </p:nvSpPr>
        <p:spPr>
          <a:xfrm>
            <a:off x="8321040" y="2286000"/>
            <a:ext cx="640080" cy="640080"/>
          </a:xfrm>
          <a:prstGeom prst="ellipse">
            <a:avLst/>
          </a:prstGeom>
          <a:solidFill>
            <a:srgbClr val="FFFFFF"/>
          </a:solidFill>
          <a:ln/>
        </p:spPr>
      </p:sp>
      <p:pic>
        <p:nvPicPr>
          <p:cNvPr id="17" name="Image 2" descr="preencoded.png">    </p:cNvPr>
          <p:cNvPicPr>
            <a:picLocks noChangeAspect="1"/>
          </p:cNvPicPr>
          <p:nvPr/>
        </p:nvPicPr>
        <p:blipFill>
          <a:blip r:embed="rId3"/>
          <a:stretch>
            <a:fillRect/>
          </a:stretch>
        </p:blipFill>
        <p:spPr>
          <a:xfrm>
            <a:off x="8404250" y="2369210"/>
            <a:ext cx="473659" cy="473659"/>
          </a:xfrm>
          <a:prstGeom prst="rect">
            <a:avLst/>
          </a:prstGeom>
        </p:spPr>
      </p:pic>
      <p:sp>
        <p:nvSpPr>
          <p:cNvPr id="18" name="Text 13"/>
          <p:cNvSpPr/>
          <p:nvPr/>
        </p:nvSpPr>
        <p:spPr>
          <a:xfrm>
            <a:off x="8321040" y="3063240"/>
            <a:ext cx="2971800" cy="365760"/>
          </a:xfrm>
          <a:prstGeom prst="rect">
            <a:avLst/>
          </a:prstGeom>
          <a:noFill/>
          <a:ln/>
        </p:spPr>
        <p:txBody>
          <a:bodyPr wrap="square" lIns="0" tIns="0" rIns="0" bIns="0"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Backpropagation (1986)</a:t>
            </a:r>
            <a:endParaRPr lang="en-US" sz="1500" dirty="0"/>
          </a:p>
        </p:txBody>
      </p:sp>
      <p:sp>
        <p:nvSpPr>
          <p:cNvPr id="19" name="Text 14"/>
          <p:cNvSpPr/>
          <p:nvPr/>
        </p:nvSpPr>
        <p:spPr>
          <a:xfrm>
            <a:off x="8321040" y="3474720"/>
            <a:ext cx="2971800" cy="1280160"/>
          </a:xfrm>
          <a:prstGeom prst="rect">
            <a:avLst/>
          </a:prstGeom>
          <a:noFill/>
          <a:ln/>
        </p:spPr>
        <p:txBody>
          <a:bodyPr wrap="square" lIns="0" tIns="0" rIns="0" bIns="0" rtlCol="0" anchor="ctr"/>
          <a:lstStyle/>
          <a:p>
            <a:pPr indent="0" marL="0">
              <a:buNone/>
            </a:pPr>
            <a:r>
              <a:rPr lang="en-US" sz="1150" dirty="0">
                <a:solidFill>
                  <a:srgbClr val="5B6B8C"/>
                </a:solidFill>
                <a:latin typeface="Calibri" pitchFamily="34" charset="0"/>
                <a:ea typeface="Calibri" pitchFamily="34" charset="-122"/>
                <a:cs typeface="Calibri" pitchFamily="34" charset="-120"/>
              </a:rPr>
              <a:t>British scientist Geoffrey Hinton popularizes an algorithm that lets neural networks learn from their own mistakes, becoming the cornerstone of modern deep learning.</a:t>
            </a:r>
            <a:endParaRPr lang="en-US" sz="1150" dirty="0"/>
          </a:p>
        </p:txBody>
      </p:sp>
      <p:sp>
        <p:nvSpPr>
          <p:cNvPr id="20" name="Shape 15"/>
          <p:cNvSpPr/>
          <p:nvPr/>
        </p:nvSpPr>
        <p:spPr>
          <a:xfrm>
            <a:off x="640080" y="5074920"/>
            <a:ext cx="10881360" cy="1051560"/>
          </a:xfrm>
          <a:prstGeom prst="roundRect">
            <a:avLst>
              <a:gd name="adj" fmla="val 6957"/>
            </a:avLst>
          </a:prstGeom>
          <a:solidFill>
            <a:srgbClr val="0B1F3A"/>
          </a:solidFill>
          <a:ln/>
        </p:spPr>
      </p:sp>
      <p:sp>
        <p:nvSpPr>
          <p:cNvPr id="21" name="Text 16"/>
          <p:cNvSpPr/>
          <p:nvPr/>
        </p:nvSpPr>
        <p:spPr>
          <a:xfrm>
            <a:off x="914400" y="5212080"/>
            <a:ext cx="10332720" cy="822960"/>
          </a:xfrm>
          <a:prstGeom prst="rect">
            <a:avLst/>
          </a:prstGeom>
          <a:noFill/>
          <a:ln/>
        </p:spPr>
        <p:txBody>
          <a:bodyPr wrap="square" lIns="0" tIns="0" rIns="0" bIns="0" rtlCol="0" anchor="ctr"/>
          <a:lstStyle/>
          <a:p>
            <a:pPr indent="0" marL="0">
              <a:buNone/>
            </a:pPr>
            <a:r>
              <a:rPr lang="en-US" sz="1200" dirty="0">
                <a:solidFill>
                  <a:srgbClr val="CFE8F3"/>
                </a:solidFill>
                <a:latin typeface="Calibri" pitchFamily="34" charset="0"/>
                <a:ea typeface="Calibri" pitchFamily="34" charset="-122"/>
                <a:cs typeface="Calibri" pitchFamily="34" charset="-120"/>
              </a:rPr>
              <a:t>Also in this decade: Japan launches its ambitious, heavily-funded “Fifth Generation Computer” project (1982) and the U.S. answers with the Strategic Computing Initiative — both aimed at leapfrogging into intelligent machines.</a:t>
            </a:r>
            <a:endParaRPr lang="en-US" sz="1200" dirty="0"/>
          </a:p>
        </p:txBody>
      </p:sp>
      <p:sp>
        <p:nvSpPr>
          <p:cNvPr id="22" name="Text 17"/>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A8B3C7"/>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502920"/>
            <a:ext cx="731520" cy="731520"/>
          </a:xfrm>
          <a:prstGeom prst="ellipse">
            <a:avLst/>
          </a:prstGeom>
          <a:solidFill>
            <a:srgbClr val="13294B"/>
          </a:solidFill>
          <a:ln/>
        </p:spPr>
      </p:sp>
      <p:pic>
        <p:nvPicPr>
          <p:cNvPr id="3" name="Image 0" descr="preencoded.png">    </p:cNvPr>
          <p:cNvPicPr>
            <a:picLocks noChangeAspect="1"/>
          </p:cNvPicPr>
          <p:nvPr/>
        </p:nvPicPr>
        <p:blipFill>
          <a:blip r:embed="rId1"/>
          <a:stretch>
            <a:fillRect/>
          </a:stretch>
        </p:blipFill>
        <p:spPr>
          <a:xfrm>
            <a:off x="735178" y="598018"/>
            <a:ext cx="541325" cy="541325"/>
          </a:xfrm>
          <a:prstGeom prst="rect">
            <a:avLst/>
          </a:prstGeom>
        </p:spPr>
      </p:pic>
      <p:sp>
        <p:nvSpPr>
          <p:cNvPr id="4" name="Text 1"/>
          <p:cNvSpPr/>
          <p:nvPr/>
        </p:nvSpPr>
        <p:spPr>
          <a:xfrm>
            <a:off x="1554480" y="594360"/>
            <a:ext cx="5486400" cy="320040"/>
          </a:xfrm>
          <a:prstGeom prst="rect">
            <a:avLst/>
          </a:prstGeom>
          <a:noFill/>
          <a:ln/>
        </p:spPr>
        <p:txBody>
          <a:bodyPr wrap="square" lIns="0" tIns="0" rIns="0" bIns="0" rtlCol="0" anchor="ctr"/>
          <a:lstStyle/>
          <a:p>
            <a:pPr indent="0" marL="0">
              <a:buNone/>
            </a:pPr>
            <a:r>
              <a:rPr lang="en-US" sz="1300" b="1" spc="200" kern="0" dirty="0">
                <a:solidFill>
                  <a:srgbClr val="0FB5C4"/>
                </a:solidFill>
                <a:latin typeface="Calibri" pitchFamily="34" charset="0"/>
                <a:ea typeface="Calibri" pitchFamily="34" charset="-122"/>
                <a:cs typeface="Calibri" pitchFamily="34" charset="-120"/>
              </a:rPr>
              <a:t>AI WINTER NO. 2 — 1987–1993</a:t>
            </a:r>
            <a:endParaRPr lang="en-US" sz="1300" dirty="0"/>
          </a:p>
        </p:txBody>
      </p:sp>
      <p:sp>
        <p:nvSpPr>
          <p:cNvPr id="5" name="Text 2"/>
          <p:cNvSpPr/>
          <p:nvPr/>
        </p:nvSpPr>
        <p:spPr>
          <a:xfrm>
            <a:off x="1554480" y="914400"/>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Second AI Winter</a:t>
            </a:r>
            <a:endParaRPr lang="en-US" sz="3200" dirty="0"/>
          </a:p>
        </p:txBody>
      </p:sp>
      <p:sp>
        <p:nvSpPr>
          <p:cNvPr id="6" name="Text 3"/>
          <p:cNvSpPr/>
          <p:nvPr/>
        </p:nvSpPr>
        <p:spPr>
          <a:xfrm>
            <a:off x="640080" y="1828800"/>
            <a:ext cx="5029200" cy="320040"/>
          </a:xfrm>
          <a:prstGeom prst="rect">
            <a:avLst/>
          </a:prstGeom>
          <a:noFill/>
          <a:ln/>
        </p:spPr>
        <p:txBody>
          <a:bodyPr wrap="square" lIns="0" tIns="0" rIns="0" bIns="0" rtlCol="0" anchor="ctr"/>
          <a:lstStyle/>
          <a:p>
            <a:pPr indent="0" marL="0">
              <a:buNone/>
            </a:pPr>
            <a:r>
              <a:rPr lang="en-US" sz="1400" b="1" spc="200" kern="0" dirty="0">
                <a:solidFill>
                  <a:srgbClr val="FF7A30"/>
                </a:solidFill>
                <a:latin typeface="Calibri" pitchFamily="34" charset="0"/>
                <a:ea typeface="Calibri" pitchFamily="34" charset="-122"/>
                <a:cs typeface="Calibri" pitchFamily="34" charset="-120"/>
              </a:rPr>
              <a:t>CAUSES</a:t>
            </a:r>
            <a:endParaRPr lang="en-US" sz="1400" dirty="0"/>
          </a:p>
        </p:txBody>
      </p:sp>
      <p:sp>
        <p:nvSpPr>
          <p:cNvPr id="7" name="Shape 4"/>
          <p:cNvSpPr/>
          <p:nvPr/>
        </p:nvSpPr>
        <p:spPr>
          <a:xfrm>
            <a:off x="640080" y="2249424"/>
            <a:ext cx="91440" cy="91440"/>
          </a:xfrm>
          <a:prstGeom prst="ellipse">
            <a:avLst/>
          </a:prstGeom>
          <a:solidFill>
            <a:srgbClr val="0FB5C4"/>
          </a:solidFill>
          <a:ln/>
        </p:spPr>
      </p:sp>
      <p:sp>
        <p:nvSpPr>
          <p:cNvPr id="8" name="Text 5"/>
          <p:cNvSpPr/>
          <p:nvPr/>
        </p:nvSpPr>
        <p:spPr>
          <a:xfrm>
            <a:off x="868680" y="2121408"/>
            <a:ext cx="5029200" cy="1005840"/>
          </a:xfrm>
          <a:prstGeom prst="rect">
            <a:avLst/>
          </a:prstGeom>
          <a:noFill/>
          <a:ln/>
        </p:spPr>
        <p:txBody>
          <a:bodyPr wrap="square" lIns="0" tIns="0" rIns="0" bIns="0" rtlCol="0" anchor="ctr"/>
          <a:lstStyle/>
          <a:p>
            <a:pPr indent="0" marL="0">
              <a:lnSpc>
                <a:spcPct val="110000"/>
              </a:lnSpc>
              <a:buNone/>
            </a:pPr>
            <a:r>
              <a:rPr lang="en-US" sz="1150" dirty="0">
                <a:solidFill>
                  <a:srgbClr val="CFE8F3"/>
                </a:solidFill>
                <a:latin typeface="Calibri" pitchFamily="34" charset="0"/>
                <a:ea typeface="Calibri" pitchFamily="34" charset="-122"/>
                <a:cs typeface="Calibri" pitchFamily="34" charset="-120"/>
              </a:rPr>
              <a:t>In 1987 the LISP machine market collapsed almost overnight as cheaper general-purpose PCs matched their performance.</a:t>
            </a:r>
            <a:endParaRPr lang="en-US" sz="1150" dirty="0"/>
          </a:p>
        </p:txBody>
      </p:sp>
      <p:sp>
        <p:nvSpPr>
          <p:cNvPr id="9" name="Shape 6"/>
          <p:cNvSpPr/>
          <p:nvPr/>
        </p:nvSpPr>
        <p:spPr>
          <a:xfrm>
            <a:off x="640080" y="3483864"/>
            <a:ext cx="91440" cy="91440"/>
          </a:xfrm>
          <a:prstGeom prst="ellipse">
            <a:avLst/>
          </a:prstGeom>
          <a:solidFill>
            <a:srgbClr val="0FB5C4"/>
          </a:solidFill>
          <a:ln/>
        </p:spPr>
      </p:sp>
      <p:sp>
        <p:nvSpPr>
          <p:cNvPr id="10" name="Text 7"/>
          <p:cNvSpPr/>
          <p:nvPr/>
        </p:nvSpPr>
        <p:spPr>
          <a:xfrm>
            <a:off x="868680" y="3355848"/>
            <a:ext cx="5029200" cy="1005840"/>
          </a:xfrm>
          <a:prstGeom prst="rect">
            <a:avLst/>
          </a:prstGeom>
          <a:noFill/>
          <a:ln/>
        </p:spPr>
        <p:txBody>
          <a:bodyPr wrap="square" lIns="0" tIns="0" rIns="0" bIns="0" rtlCol="0" anchor="ctr"/>
          <a:lstStyle/>
          <a:p>
            <a:pPr indent="0" marL="0">
              <a:lnSpc>
                <a:spcPct val="110000"/>
              </a:lnSpc>
              <a:buNone/>
            </a:pPr>
            <a:r>
              <a:rPr lang="en-US" sz="1150" dirty="0">
                <a:solidFill>
                  <a:srgbClr val="CFE8F3"/>
                </a:solidFill>
                <a:latin typeface="Calibri" pitchFamily="34" charset="0"/>
                <a:ea typeface="Calibri" pitchFamily="34" charset="-122"/>
                <a:cs typeface="Calibri" pitchFamily="34" charset="-120"/>
              </a:rPr>
              <a:t>Expert systems proved brittle outside their narrow domain, and updating their hand-coded knowledge bases was slow and expensive.</a:t>
            </a:r>
            <a:endParaRPr lang="en-US" sz="1150" dirty="0"/>
          </a:p>
        </p:txBody>
      </p:sp>
      <p:sp>
        <p:nvSpPr>
          <p:cNvPr id="11" name="Shape 8"/>
          <p:cNvSpPr/>
          <p:nvPr/>
        </p:nvSpPr>
        <p:spPr>
          <a:xfrm>
            <a:off x="640080" y="4718304"/>
            <a:ext cx="91440" cy="91440"/>
          </a:xfrm>
          <a:prstGeom prst="ellipse">
            <a:avLst/>
          </a:prstGeom>
          <a:solidFill>
            <a:srgbClr val="0FB5C4"/>
          </a:solidFill>
          <a:ln/>
        </p:spPr>
      </p:sp>
      <p:sp>
        <p:nvSpPr>
          <p:cNvPr id="12" name="Text 9"/>
          <p:cNvSpPr/>
          <p:nvPr/>
        </p:nvSpPr>
        <p:spPr>
          <a:xfrm>
            <a:off x="868680" y="4590288"/>
            <a:ext cx="5029200" cy="1005840"/>
          </a:xfrm>
          <a:prstGeom prst="rect">
            <a:avLst/>
          </a:prstGeom>
          <a:noFill/>
          <a:ln/>
        </p:spPr>
        <p:txBody>
          <a:bodyPr wrap="square" lIns="0" tIns="0" rIns="0" bIns="0" rtlCol="0" anchor="ctr"/>
          <a:lstStyle/>
          <a:p>
            <a:pPr indent="0" marL="0">
              <a:lnSpc>
                <a:spcPct val="110000"/>
              </a:lnSpc>
              <a:buNone/>
            </a:pPr>
            <a:r>
              <a:rPr lang="en-US" sz="1150" dirty="0">
                <a:solidFill>
                  <a:srgbClr val="CFE8F3"/>
                </a:solidFill>
                <a:latin typeface="Calibri" pitchFamily="34" charset="0"/>
                <a:ea typeface="Calibri" pitchFamily="34" charset="-122"/>
                <a:cs typeface="Calibri" pitchFamily="34" charset="-120"/>
              </a:rPr>
              <a:t>Japan's Fifth Generation project failed to deliver on its bold promises, and DARPA cut AI funding again, calling much of the work “clever programming” rather than real intelligence.</a:t>
            </a:r>
            <a:endParaRPr lang="en-US" sz="1150" dirty="0"/>
          </a:p>
        </p:txBody>
      </p:sp>
      <p:sp>
        <p:nvSpPr>
          <p:cNvPr id="13" name="Shape 10"/>
          <p:cNvSpPr/>
          <p:nvPr/>
        </p:nvSpPr>
        <p:spPr>
          <a:xfrm>
            <a:off x="6035040" y="1874520"/>
            <a:ext cx="0" cy="4206240"/>
          </a:xfrm>
          <a:prstGeom prst="line">
            <a:avLst/>
          </a:prstGeom>
          <a:noFill/>
          <a:ln w="12700">
            <a:solidFill>
              <a:srgbClr val="2A3F63"/>
            </a:solidFill>
            <a:prstDash val="solid"/>
          </a:ln>
        </p:spPr>
      </p:sp>
      <p:sp>
        <p:nvSpPr>
          <p:cNvPr id="14" name="Text 11"/>
          <p:cNvSpPr/>
          <p:nvPr/>
        </p:nvSpPr>
        <p:spPr>
          <a:xfrm>
            <a:off x="6309360" y="1828800"/>
            <a:ext cx="5029200" cy="320040"/>
          </a:xfrm>
          <a:prstGeom prst="rect">
            <a:avLst/>
          </a:prstGeom>
          <a:noFill/>
          <a:ln/>
        </p:spPr>
        <p:txBody>
          <a:bodyPr wrap="square" lIns="0" tIns="0" rIns="0" bIns="0" rtlCol="0" anchor="ctr"/>
          <a:lstStyle/>
          <a:p>
            <a:pPr indent="0" marL="0">
              <a:buNone/>
            </a:pPr>
            <a:r>
              <a:rPr lang="en-US" sz="1400" b="1" spc="200" kern="0" dirty="0">
                <a:solidFill>
                  <a:srgbClr val="FF7A30"/>
                </a:solidFill>
                <a:latin typeface="Calibri" pitchFamily="34" charset="0"/>
                <a:ea typeface="Calibri" pitchFamily="34" charset="-122"/>
                <a:cs typeface="Calibri" pitchFamily="34" charset="-120"/>
              </a:rPr>
              <a:t>IMPACT</a:t>
            </a:r>
            <a:endParaRPr lang="en-US" sz="1400" dirty="0"/>
          </a:p>
        </p:txBody>
      </p:sp>
      <p:sp>
        <p:nvSpPr>
          <p:cNvPr id="15" name="Shape 12"/>
          <p:cNvSpPr/>
          <p:nvPr/>
        </p:nvSpPr>
        <p:spPr>
          <a:xfrm>
            <a:off x="6309360" y="2249424"/>
            <a:ext cx="91440" cy="91440"/>
          </a:xfrm>
          <a:prstGeom prst="ellipse">
            <a:avLst/>
          </a:prstGeom>
          <a:solidFill>
            <a:srgbClr val="0FB5C4"/>
          </a:solidFill>
          <a:ln/>
        </p:spPr>
      </p:sp>
      <p:sp>
        <p:nvSpPr>
          <p:cNvPr id="16" name="Text 13"/>
          <p:cNvSpPr/>
          <p:nvPr/>
        </p:nvSpPr>
        <p:spPr>
          <a:xfrm>
            <a:off x="6537960" y="2121408"/>
            <a:ext cx="5029200" cy="1005840"/>
          </a:xfrm>
          <a:prstGeom prst="rect">
            <a:avLst/>
          </a:prstGeom>
          <a:noFill/>
          <a:ln/>
        </p:spPr>
        <p:txBody>
          <a:bodyPr wrap="square" lIns="0" tIns="0" rIns="0" bIns="0" rtlCol="0" anchor="ctr"/>
          <a:lstStyle/>
          <a:p>
            <a:pPr indent="0" marL="0">
              <a:lnSpc>
                <a:spcPct val="110000"/>
              </a:lnSpc>
              <a:buNone/>
            </a:pPr>
            <a:r>
              <a:rPr lang="en-US" sz="1150" dirty="0">
                <a:solidFill>
                  <a:srgbClr val="CFE8F3"/>
                </a:solidFill>
                <a:latin typeface="Calibri" pitchFamily="34" charset="0"/>
                <a:ea typeface="Calibri" pitchFamily="34" charset="-122"/>
                <a:cs typeface="Calibri" pitchFamily="34" charset="-120"/>
              </a:rPr>
              <a:t>A second wave of layoffs and lab closures hit the field, lasting into the mid-1990s.</a:t>
            </a:r>
            <a:endParaRPr lang="en-US" sz="1150" dirty="0"/>
          </a:p>
        </p:txBody>
      </p:sp>
      <p:sp>
        <p:nvSpPr>
          <p:cNvPr id="17" name="Shape 14"/>
          <p:cNvSpPr/>
          <p:nvPr/>
        </p:nvSpPr>
        <p:spPr>
          <a:xfrm>
            <a:off x="6309360" y="3483864"/>
            <a:ext cx="91440" cy="91440"/>
          </a:xfrm>
          <a:prstGeom prst="ellipse">
            <a:avLst/>
          </a:prstGeom>
          <a:solidFill>
            <a:srgbClr val="0FB5C4"/>
          </a:solidFill>
          <a:ln/>
        </p:spPr>
      </p:sp>
      <p:sp>
        <p:nvSpPr>
          <p:cNvPr id="18" name="Text 15"/>
          <p:cNvSpPr/>
          <p:nvPr/>
        </p:nvSpPr>
        <p:spPr>
          <a:xfrm>
            <a:off x="6537960" y="3355848"/>
            <a:ext cx="5029200" cy="1005840"/>
          </a:xfrm>
          <a:prstGeom prst="rect">
            <a:avLst/>
          </a:prstGeom>
          <a:noFill/>
          <a:ln/>
        </p:spPr>
        <p:txBody>
          <a:bodyPr wrap="square" lIns="0" tIns="0" rIns="0" bIns="0" rtlCol="0" anchor="ctr"/>
          <a:lstStyle/>
          <a:p>
            <a:pPr indent="0" marL="0">
              <a:lnSpc>
                <a:spcPct val="110000"/>
              </a:lnSpc>
              <a:buNone/>
            </a:pPr>
            <a:r>
              <a:rPr lang="en-US" sz="1150" dirty="0">
                <a:solidFill>
                  <a:srgbClr val="CFE8F3"/>
                </a:solidFill>
                <a:latin typeface="Calibri" pitchFamily="34" charset="0"/>
                <a:ea typeface="Calibri" pitchFamily="34" charset="-122"/>
                <a:cs typeface="Calibri" pitchFamily="34" charset="-120"/>
              </a:rPr>
              <a:t>Investment shifted quietly toward narrower, statistical machine learning rather than grand “thinking machine” ambitions.</a:t>
            </a:r>
            <a:endParaRPr lang="en-US" sz="1150" dirty="0"/>
          </a:p>
        </p:txBody>
      </p:sp>
      <p:sp>
        <p:nvSpPr>
          <p:cNvPr id="19" name="Shape 16"/>
          <p:cNvSpPr/>
          <p:nvPr/>
        </p:nvSpPr>
        <p:spPr>
          <a:xfrm>
            <a:off x="6309360" y="4718304"/>
            <a:ext cx="91440" cy="91440"/>
          </a:xfrm>
          <a:prstGeom prst="ellipse">
            <a:avLst/>
          </a:prstGeom>
          <a:solidFill>
            <a:srgbClr val="0FB5C4"/>
          </a:solidFill>
          <a:ln/>
        </p:spPr>
      </p:sp>
      <p:sp>
        <p:nvSpPr>
          <p:cNvPr id="20" name="Text 17"/>
          <p:cNvSpPr/>
          <p:nvPr/>
        </p:nvSpPr>
        <p:spPr>
          <a:xfrm>
            <a:off x="6537960" y="4590288"/>
            <a:ext cx="5029200" cy="1005840"/>
          </a:xfrm>
          <a:prstGeom prst="rect">
            <a:avLst/>
          </a:prstGeom>
          <a:noFill/>
          <a:ln/>
        </p:spPr>
        <p:txBody>
          <a:bodyPr wrap="square" lIns="0" tIns="0" rIns="0" bIns="0" rtlCol="0" anchor="ctr"/>
          <a:lstStyle/>
          <a:p>
            <a:pPr indent="0" marL="0">
              <a:lnSpc>
                <a:spcPct val="110000"/>
              </a:lnSpc>
              <a:buNone/>
            </a:pPr>
            <a:r>
              <a:rPr lang="en-US" sz="1150" dirty="0">
                <a:solidFill>
                  <a:srgbClr val="CFE8F3"/>
                </a:solidFill>
                <a:latin typeface="Calibri" pitchFamily="34" charset="0"/>
                <a:ea typeface="Calibri" pitchFamily="34" charset="-122"/>
                <a:cs typeface="Calibri" pitchFamily="34" charset="-120"/>
              </a:rPr>
              <a:t>The lesson stuck with the field: real progress would need not just clever algorithms, but far more data and computing power than anyone had in 1990.</a:t>
            </a:r>
            <a:endParaRPr lang="en-US" sz="1150" dirty="0"/>
          </a:p>
        </p:txBody>
      </p:sp>
      <p:sp>
        <p:nvSpPr>
          <p:cNvPr id="21" name="Text 18"/>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6E85AD"/>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lIns="0" tIns="0" rIns="0" bIns="0" rtlCol="0" anchor="ctr"/>
          <a:lstStyle/>
          <a:p>
            <a:pPr indent="0" marL="0">
              <a:buNone/>
            </a:pPr>
            <a:r>
              <a:rPr lang="en-US" sz="1300" b="1" spc="200" kern="0" dirty="0">
                <a:solidFill>
                  <a:srgbClr val="0FB5C4"/>
                </a:solidFill>
                <a:latin typeface="Calibri" pitchFamily="34" charset="0"/>
                <a:ea typeface="Calibri" pitchFamily="34" charset="-122"/>
                <a:cs typeface="Calibri" pitchFamily="34" charset="-120"/>
              </a:rPr>
              <a:t>1994 – 1999</a:t>
            </a:r>
            <a:endParaRPr lang="en-US" sz="1300" dirty="0"/>
          </a:p>
        </p:txBody>
      </p:sp>
      <p:sp>
        <p:nvSpPr>
          <p:cNvPr id="3" name="Text 1"/>
          <p:cNvSpPr/>
          <p:nvPr/>
        </p:nvSpPr>
        <p:spPr>
          <a:xfrm>
            <a:off x="640080" y="777240"/>
            <a:ext cx="10515600" cy="64008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Quiet Progress: Deep Blue &amp; the Data Formula</a:t>
            </a:r>
            <a:endParaRPr lang="en-US" sz="2800" dirty="0"/>
          </a:p>
        </p:txBody>
      </p:sp>
      <p:sp>
        <p:nvSpPr>
          <p:cNvPr id="4" name="Shape 2"/>
          <p:cNvSpPr/>
          <p:nvPr/>
        </p:nvSpPr>
        <p:spPr>
          <a:xfrm>
            <a:off x="640080" y="1691640"/>
            <a:ext cx="5120640" cy="4206240"/>
          </a:xfrm>
          <a:prstGeom prst="roundRect">
            <a:avLst>
              <a:gd name="adj" fmla="val 2174"/>
            </a:avLst>
          </a:prstGeom>
          <a:solidFill>
            <a:srgbClr val="F3F6FA"/>
          </a:solidFill>
          <a:ln/>
          <a:effectLst>
            <a:outerShdw sx="100000" sy="100000" kx="0" ky="0" algn="bl" rotWithShape="0" blurRad="127000" dist="38100" dir="2700000">
              <a:srgbClr val="0B1F3A">
                <a:alpha val="12000"/>
              </a:srgbClr>
            </a:outerShdw>
          </a:effectLst>
        </p:spPr>
      </p:sp>
      <p:sp>
        <p:nvSpPr>
          <p:cNvPr id="5" name="Shape 3"/>
          <p:cNvSpPr/>
          <p:nvPr/>
        </p:nvSpPr>
        <p:spPr>
          <a:xfrm>
            <a:off x="960120" y="1965960"/>
            <a:ext cx="731520" cy="73152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1055218" y="2061058"/>
            <a:ext cx="541325" cy="541325"/>
          </a:xfrm>
          <a:prstGeom prst="rect">
            <a:avLst/>
          </a:prstGeom>
        </p:spPr>
      </p:pic>
      <p:sp>
        <p:nvSpPr>
          <p:cNvPr id="7" name="Text 4"/>
          <p:cNvSpPr/>
          <p:nvPr/>
        </p:nvSpPr>
        <p:spPr>
          <a:xfrm>
            <a:off x="960120" y="2834640"/>
            <a:ext cx="4480560" cy="548640"/>
          </a:xfrm>
          <a:prstGeom prst="rect">
            <a:avLst/>
          </a:prstGeom>
          <a:noFill/>
          <a:ln/>
        </p:spPr>
        <p:txBody>
          <a:bodyPr wrap="square" lIns="0" tIns="0" rIns="0" bIns="0" rtlCol="0" anchor="ctr"/>
          <a:lstStyle/>
          <a:p>
            <a:pPr indent="0" marL="0">
              <a:buNone/>
            </a:pPr>
            <a:r>
              <a:rPr lang="en-US" sz="1700" b="1" dirty="0">
                <a:solidFill>
                  <a:srgbClr val="16213E"/>
                </a:solidFill>
                <a:latin typeface="Calibri" pitchFamily="34" charset="0"/>
                <a:ea typeface="Calibri" pitchFamily="34" charset="-122"/>
                <a:cs typeface="Calibri" pitchFamily="34" charset="-120"/>
              </a:rPr>
              <a:t>1997 — Deep Blue Beats Kasparov</a:t>
            </a:r>
            <a:endParaRPr lang="en-US" sz="1700" dirty="0"/>
          </a:p>
        </p:txBody>
      </p:sp>
      <p:sp>
        <p:nvSpPr>
          <p:cNvPr id="8" name="Text 5"/>
          <p:cNvSpPr/>
          <p:nvPr/>
        </p:nvSpPr>
        <p:spPr>
          <a:xfrm>
            <a:off x="960120" y="3383280"/>
            <a:ext cx="4480560" cy="1280160"/>
          </a:xfrm>
          <a:prstGeom prst="rect">
            <a:avLst/>
          </a:prstGeom>
          <a:noFill/>
          <a:ln/>
        </p:spPr>
        <p:txBody>
          <a:bodyPr wrap="square" lIns="0" tIns="0" rIns="0" bIns="0" rtlCol="0" anchor="ctr"/>
          <a:lstStyle/>
          <a:p>
            <a:pPr indent="0" marL="0">
              <a:lnSpc>
                <a:spcPct val="115000"/>
              </a:lnSpc>
              <a:buNone/>
            </a:pPr>
            <a:r>
              <a:rPr lang="en-US" sz="1250" dirty="0">
                <a:solidFill>
                  <a:srgbClr val="5B6B8C"/>
                </a:solidFill>
                <a:latin typeface="Calibri" pitchFamily="34" charset="0"/>
                <a:ea typeface="Calibri" pitchFamily="34" charset="-122"/>
                <a:cs typeface="Calibri" pitchFamily="34" charset="-120"/>
              </a:rPr>
              <a:t>IBM's Deep Blue combines a sophisticated search algorithm, a huge database of past games, and brute-force computing power to defeat world chess champion Garry Kasparov.</a:t>
            </a:r>
            <a:endParaRPr lang="en-US" sz="1250" dirty="0"/>
          </a:p>
        </p:txBody>
      </p:sp>
      <p:sp>
        <p:nvSpPr>
          <p:cNvPr id="9" name="Shape 6"/>
          <p:cNvSpPr/>
          <p:nvPr/>
        </p:nvSpPr>
        <p:spPr>
          <a:xfrm>
            <a:off x="960120" y="4754880"/>
            <a:ext cx="914400" cy="0"/>
          </a:xfrm>
          <a:prstGeom prst="line">
            <a:avLst/>
          </a:prstGeom>
          <a:noFill/>
          <a:ln w="25400">
            <a:solidFill>
              <a:srgbClr val="0FB5C4"/>
            </a:solidFill>
            <a:prstDash val="solid"/>
          </a:ln>
        </p:spPr>
      </p:sp>
      <p:sp>
        <p:nvSpPr>
          <p:cNvPr id="10" name="Text 7"/>
          <p:cNvSpPr/>
          <p:nvPr/>
        </p:nvSpPr>
        <p:spPr>
          <a:xfrm>
            <a:off x="960120" y="4892040"/>
            <a:ext cx="4480560" cy="868680"/>
          </a:xfrm>
          <a:prstGeom prst="rect">
            <a:avLst/>
          </a:prstGeom>
          <a:noFill/>
          <a:ln/>
        </p:spPr>
        <p:txBody>
          <a:bodyPr wrap="square" lIns="0" tIns="0" rIns="0" bIns="0" rtlCol="0" anchor="ctr"/>
          <a:lstStyle/>
          <a:p>
            <a:pPr indent="0" marL="0">
              <a:buNone/>
            </a:pPr>
            <a:r>
              <a:rPr lang="en-US" sz="1200" i="1" dirty="0">
                <a:solidFill>
                  <a:srgbClr val="16213E"/>
                </a:solidFill>
                <a:latin typeface="Calibri" pitchFamily="34" charset="0"/>
                <a:ea typeface="Calibri" pitchFamily="34" charset="-122"/>
                <a:cs typeface="Calibri" pitchFamily="34" charset="-120"/>
              </a:rPr>
              <a:t>The unintended lesson: Data + Algorithm + Compute is the recipe for machine intelligence — a formula that would define the next three decades.</a:t>
            </a:r>
            <a:endParaRPr lang="en-US" sz="1200" dirty="0"/>
          </a:p>
        </p:txBody>
      </p:sp>
      <p:sp>
        <p:nvSpPr>
          <p:cNvPr id="11" name="Shape 8"/>
          <p:cNvSpPr/>
          <p:nvPr/>
        </p:nvSpPr>
        <p:spPr>
          <a:xfrm>
            <a:off x="6035040" y="1691640"/>
            <a:ext cx="5486400" cy="4206240"/>
          </a:xfrm>
          <a:prstGeom prst="roundRect">
            <a:avLst>
              <a:gd name="adj" fmla="val 2174"/>
            </a:avLst>
          </a:prstGeom>
          <a:solidFill>
            <a:srgbClr val="0B1F3A"/>
          </a:solidFill>
          <a:ln/>
        </p:spPr>
      </p:sp>
      <p:sp>
        <p:nvSpPr>
          <p:cNvPr id="12" name="Shape 9"/>
          <p:cNvSpPr/>
          <p:nvPr/>
        </p:nvSpPr>
        <p:spPr>
          <a:xfrm>
            <a:off x="6355080" y="1965960"/>
            <a:ext cx="731520" cy="731520"/>
          </a:xfrm>
          <a:prstGeom prst="ellipse">
            <a:avLst/>
          </a:prstGeom>
          <a:solidFill>
            <a:srgbClr val="13294B"/>
          </a:solidFill>
          <a:ln/>
        </p:spPr>
      </p:sp>
      <p:pic>
        <p:nvPicPr>
          <p:cNvPr id="13" name="Image 1" descr="preencoded.png">    </p:cNvPr>
          <p:cNvPicPr>
            <a:picLocks noChangeAspect="1"/>
          </p:cNvPicPr>
          <p:nvPr/>
        </p:nvPicPr>
        <p:blipFill>
          <a:blip r:embed="rId2"/>
          <a:stretch>
            <a:fillRect/>
          </a:stretch>
        </p:blipFill>
        <p:spPr>
          <a:xfrm>
            <a:off x="6450178" y="2061058"/>
            <a:ext cx="541325" cy="541325"/>
          </a:xfrm>
          <a:prstGeom prst="rect">
            <a:avLst/>
          </a:prstGeom>
        </p:spPr>
      </p:pic>
      <p:sp>
        <p:nvSpPr>
          <p:cNvPr id="14" name="Text 10"/>
          <p:cNvSpPr/>
          <p:nvPr/>
        </p:nvSpPr>
        <p:spPr>
          <a:xfrm>
            <a:off x="6355080" y="2834640"/>
            <a:ext cx="484632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Neural Nets, Quietly</a:t>
            </a:r>
            <a:endParaRPr lang="en-US" sz="1700" dirty="0"/>
          </a:p>
        </p:txBody>
      </p:sp>
      <p:sp>
        <p:nvSpPr>
          <p:cNvPr id="15" name="Text 11"/>
          <p:cNvSpPr/>
          <p:nvPr/>
        </p:nvSpPr>
        <p:spPr>
          <a:xfrm>
            <a:off x="6355080" y="3337560"/>
            <a:ext cx="4846320" cy="1371600"/>
          </a:xfrm>
          <a:prstGeom prst="rect">
            <a:avLst/>
          </a:prstGeom>
          <a:noFill/>
          <a:ln/>
        </p:spPr>
        <p:txBody>
          <a:bodyPr wrap="square" lIns="0" tIns="0" rIns="0" bIns="0" rtlCol="0" anchor="ctr"/>
          <a:lstStyle/>
          <a:p>
            <a:pPr indent="0" marL="0">
              <a:lnSpc>
                <a:spcPct val="115000"/>
              </a:lnSpc>
              <a:buNone/>
            </a:pPr>
            <a:r>
              <a:rPr lang="en-US" sz="1250" dirty="0">
                <a:solidFill>
                  <a:srgbClr val="CFE8F3"/>
                </a:solidFill>
                <a:latin typeface="Calibri" pitchFamily="34" charset="0"/>
                <a:ea typeface="Calibri" pitchFamily="34" charset="-122"/>
                <a:cs typeface="Calibri" pitchFamily="34" charset="-120"/>
              </a:rPr>
              <a:t>Backpropagation, introduced in 1986, becomes the engine behind commercial forecasting tools like Ward Systems' NeuroShell — an early, low-profile proof that neural networks could do useful work.</a:t>
            </a:r>
            <a:endParaRPr lang="en-US" sz="1250" dirty="0"/>
          </a:p>
        </p:txBody>
      </p:sp>
      <p:sp>
        <p:nvSpPr>
          <p:cNvPr id="16" name="Shape 12"/>
          <p:cNvSpPr/>
          <p:nvPr/>
        </p:nvSpPr>
        <p:spPr>
          <a:xfrm>
            <a:off x="6355080" y="4754880"/>
            <a:ext cx="914400" cy="0"/>
          </a:xfrm>
          <a:prstGeom prst="line">
            <a:avLst/>
          </a:prstGeom>
          <a:noFill/>
          <a:ln w="25400">
            <a:solidFill>
              <a:srgbClr val="0FB5C4"/>
            </a:solidFill>
            <a:prstDash val="solid"/>
          </a:ln>
        </p:spPr>
      </p:sp>
      <p:sp>
        <p:nvSpPr>
          <p:cNvPr id="17" name="Text 13"/>
          <p:cNvSpPr/>
          <p:nvPr/>
        </p:nvSpPr>
        <p:spPr>
          <a:xfrm>
            <a:off x="6355080" y="4892040"/>
            <a:ext cx="4846320" cy="868680"/>
          </a:xfrm>
          <a:prstGeom prst="rect">
            <a:avLst/>
          </a:prstGeom>
          <a:noFill/>
          <a:ln/>
        </p:spPr>
        <p:txBody>
          <a:bodyPr wrap="square" lIns="0" tIns="0" rIns="0" bIns="0" rtlCol="0" anchor="ctr"/>
          <a:lstStyle/>
          <a:p>
            <a:pPr indent="0" marL="0">
              <a:buNone/>
            </a:pPr>
            <a:r>
              <a:rPr lang="en-US" sz="1200" i="1" dirty="0">
                <a:solidFill>
                  <a:srgbClr val="CFE8F3"/>
                </a:solidFill>
                <a:latin typeface="Calibri" pitchFamily="34" charset="0"/>
                <a:ea typeface="Calibri" pitchFamily="34" charset="-122"/>
                <a:cs typeface="Calibri" pitchFamily="34" charset="-120"/>
              </a:rPr>
              <a:t>Meanwhile, the rise of the internet is about to generate more data than the field has ever had to work with.</a:t>
            </a:r>
            <a:endParaRPr lang="en-US" sz="1200" dirty="0"/>
          </a:p>
        </p:txBody>
      </p:sp>
      <p:sp>
        <p:nvSpPr>
          <p:cNvPr id="18" name="Text 14"/>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A8B3C7"/>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lIns="0" tIns="0" rIns="0" bIns="0" rtlCol="0" anchor="ctr"/>
          <a:lstStyle/>
          <a:p>
            <a:pPr indent="0" marL="0">
              <a:buNone/>
            </a:pPr>
            <a:r>
              <a:rPr lang="en-US" sz="1300" b="1" spc="200" kern="0" dirty="0">
                <a:solidFill>
                  <a:srgbClr val="0FB5C4"/>
                </a:solidFill>
                <a:latin typeface="Calibri" pitchFamily="34" charset="0"/>
                <a:ea typeface="Calibri" pitchFamily="34" charset="-122"/>
                <a:cs typeface="Calibri" pitchFamily="34" charset="-120"/>
              </a:rPr>
              <a:t>LATE 1990S – 2000S</a:t>
            </a:r>
            <a:endParaRPr lang="en-US" sz="1300" dirty="0"/>
          </a:p>
        </p:txBody>
      </p:sp>
      <p:sp>
        <p:nvSpPr>
          <p:cNvPr id="3" name="Text 1"/>
          <p:cNvSpPr/>
          <p:nvPr/>
        </p:nvSpPr>
        <p:spPr>
          <a:xfrm>
            <a:off x="640080" y="777240"/>
            <a:ext cx="8229600" cy="64008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The Era of Big Data</a:t>
            </a:r>
            <a:endParaRPr lang="en-US" sz="3200" dirty="0"/>
          </a:p>
        </p:txBody>
      </p:sp>
      <p:sp>
        <p:nvSpPr>
          <p:cNvPr id="4" name="Text 2"/>
          <p:cNvSpPr/>
          <p:nvPr/>
        </p:nvSpPr>
        <p:spPr>
          <a:xfrm>
            <a:off x="640080" y="1508760"/>
            <a:ext cx="6400800" cy="1463040"/>
          </a:xfrm>
          <a:prstGeom prst="rect">
            <a:avLst/>
          </a:prstGeom>
          <a:noFill/>
          <a:ln/>
        </p:spPr>
        <p:txBody>
          <a:bodyPr wrap="square" lIns="0" tIns="0" rIns="0" bIns="0" rtlCol="0" anchor="ctr"/>
          <a:lstStyle/>
          <a:p>
            <a:pPr indent="0" marL="0">
              <a:lnSpc>
                <a:spcPct val="115000"/>
              </a:lnSpc>
              <a:buNone/>
            </a:pPr>
            <a:r>
              <a:rPr lang="en-US" sz="1400" dirty="0">
                <a:solidFill>
                  <a:srgbClr val="16213E"/>
                </a:solidFill>
                <a:latin typeface="Calibri" pitchFamily="34" charset="0"/>
                <a:ea typeface="Calibri" pitchFamily="34" charset="-122"/>
                <a:cs typeface="Calibri" pitchFamily="34" charset="-120"/>
              </a:rPr>
              <a:t>The dot-com boom mints new giants — Google, Amazon, and Facebook — that generate more data every year than all of humanity had produced in the previous century. This flood of data creates an urgent, practical need for algorithms that can make sense of it.</a:t>
            </a:r>
            <a:endParaRPr lang="en-US" sz="1400" dirty="0"/>
          </a:p>
        </p:txBody>
      </p:sp>
      <p:sp>
        <p:nvSpPr>
          <p:cNvPr id="5" name="Shape 3"/>
          <p:cNvSpPr/>
          <p:nvPr/>
        </p:nvSpPr>
        <p:spPr>
          <a:xfrm>
            <a:off x="640080" y="3108960"/>
            <a:ext cx="6400800" cy="2834640"/>
          </a:xfrm>
          <a:prstGeom prst="roundRect">
            <a:avLst>
              <a:gd name="adj" fmla="val 2581"/>
            </a:avLst>
          </a:prstGeom>
          <a:solidFill>
            <a:srgbClr val="F3F6FA"/>
          </a:solidFill>
          <a:ln/>
          <a:effectLst>
            <a:outerShdw sx="100000" sy="100000" kx="0" ky="0" algn="bl" rotWithShape="0" blurRad="127000" dist="38100" dir="2700000">
              <a:srgbClr val="0B1F3A">
                <a:alpha val="12000"/>
              </a:srgbClr>
            </a:outerShdw>
          </a:effectLst>
        </p:spPr>
      </p:sp>
      <p:sp>
        <p:nvSpPr>
          <p:cNvPr id="6" name="Text 4"/>
          <p:cNvSpPr/>
          <p:nvPr/>
        </p:nvSpPr>
        <p:spPr>
          <a:xfrm>
            <a:off x="914400" y="3291840"/>
            <a:ext cx="585216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From Theory to Framework: Narrow AI vs. AGI</a:t>
            </a:r>
            <a:endParaRPr lang="en-US" sz="1400" dirty="0"/>
          </a:p>
        </p:txBody>
      </p:sp>
      <p:sp>
        <p:nvSpPr>
          <p:cNvPr id="7" name="Text 5"/>
          <p:cNvSpPr/>
          <p:nvPr/>
        </p:nvSpPr>
        <p:spPr>
          <a:xfrm>
            <a:off x="914400" y="3703320"/>
            <a:ext cx="5852160" cy="2011680"/>
          </a:xfrm>
          <a:prstGeom prst="rect">
            <a:avLst/>
          </a:prstGeom>
          <a:noFill/>
          <a:ln/>
        </p:spPr>
        <p:txBody>
          <a:bodyPr wrap="square" lIns="0" tIns="0" rIns="0" bIns="0" rtlCol="0" anchor="ctr"/>
          <a:lstStyle/>
          <a:p>
            <a:pPr indent="0" marL="0">
              <a:lnSpc>
                <a:spcPct val="120000"/>
              </a:lnSpc>
              <a:buNone/>
            </a:pPr>
            <a:r>
              <a:rPr lang="en-US" sz="1200" b="1" dirty="0">
                <a:solidFill>
                  <a:srgbClr val="16213E"/>
                </a:solidFill>
                <a:latin typeface="Calibri" pitchFamily="34" charset="0"/>
                <a:ea typeface="Calibri" pitchFamily="34" charset="-122"/>
                <a:cs typeface="Calibri" pitchFamily="34" charset="-120"/>
              </a:rPr>
              <a:t>Narrow AI: </a:t>
            </a:r>
            <a:pPr indent="0" marL="0">
              <a:lnSpc>
                <a:spcPct val="120000"/>
              </a:lnSpc>
              <a:buNone/>
            </a:pPr>
            <a:r>
              <a:rPr lang="en-US" sz="1200" dirty="0">
                <a:solidFill>
                  <a:srgbClr val="5B6B8C"/>
                </a:solidFill>
                <a:latin typeface="Calibri" pitchFamily="34" charset="0"/>
                <a:ea typeface="Calibri" pitchFamily="34" charset="-122"/>
                <a:cs typeface="Calibri" pitchFamily="34" charset="-120"/>
              </a:rPr>
              <a:t>systems designed for one specific task (recommendation engines, image tagging, chess) — this is every AI system built through the 2000s.</a:t>
            </a:r>
            <a:endParaRPr lang="en-US" sz="1200" dirty="0"/>
          </a:p>
          <a:p>
            <a:pPr indent="0" marL="0">
              <a:lnSpc>
                <a:spcPct val="120000"/>
              </a:lnSpc>
              <a:buNone/>
            </a:pPr>
            <a:r>
              <a:rPr lang="en-US" sz="1200" b="1" dirty="0">
                <a:solidFill>
                  <a:srgbClr val="16213E"/>
                </a:solidFill>
                <a:latin typeface="Calibri" pitchFamily="34" charset="0"/>
                <a:ea typeface="Calibri" pitchFamily="34" charset="-122"/>
                <a:cs typeface="Calibri" pitchFamily="34" charset="-120"/>
              </a:rPr>
              <a:t>Artificial General Intelligence (AGI): </a:t>
            </a:r>
            <a:pPr indent="0" marL="0">
              <a:lnSpc>
                <a:spcPct val="120000"/>
              </a:lnSpc>
              <a:buNone/>
            </a:pPr>
            <a:r>
              <a:rPr lang="en-US" sz="1200" dirty="0">
                <a:solidFill>
                  <a:srgbClr val="5B6B8C"/>
                </a:solidFill>
                <a:latin typeface="Calibri" pitchFamily="34" charset="0"/>
                <a:ea typeface="Calibri" pitchFamily="34" charset="-122"/>
                <a:cs typeface="Calibri" pitchFamily="34" charset="-120"/>
              </a:rPr>
              <a:t>a hypothetical system with human-like, flexible intelligence across any domain — still a research goal, not a reality.</a:t>
            </a:r>
            <a:endParaRPr lang="en-US" sz="1200" dirty="0"/>
          </a:p>
        </p:txBody>
      </p:sp>
      <p:sp>
        <p:nvSpPr>
          <p:cNvPr id="8" name="Shape 6"/>
          <p:cNvSpPr/>
          <p:nvPr/>
        </p:nvSpPr>
        <p:spPr>
          <a:xfrm>
            <a:off x="7315200" y="1508760"/>
            <a:ext cx="4206240" cy="4434840"/>
          </a:xfrm>
          <a:prstGeom prst="roundRect">
            <a:avLst>
              <a:gd name="adj" fmla="val 2174"/>
            </a:avLst>
          </a:prstGeom>
          <a:solidFill>
            <a:srgbClr val="0B1F3A"/>
          </a:solidFill>
          <a:ln/>
        </p:spPr>
      </p:sp>
      <p:sp>
        <p:nvSpPr>
          <p:cNvPr id="9" name="Shape 7"/>
          <p:cNvSpPr/>
          <p:nvPr/>
        </p:nvSpPr>
        <p:spPr>
          <a:xfrm>
            <a:off x="7635240" y="1783080"/>
            <a:ext cx="640080" cy="640080"/>
          </a:xfrm>
          <a:prstGeom prst="ellipse">
            <a:avLst/>
          </a:prstGeom>
          <a:solidFill>
            <a:srgbClr val="13294B"/>
          </a:solidFill>
          <a:ln/>
        </p:spPr>
      </p:sp>
      <p:pic>
        <p:nvPicPr>
          <p:cNvPr id="10" name="Image 0" descr="preencoded.png">    </p:cNvPr>
          <p:cNvPicPr>
            <a:picLocks noChangeAspect="1"/>
          </p:cNvPicPr>
          <p:nvPr/>
        </p:nvPicPr>
        <p:blipFill>
          <a:blip r:embed="rId1"/>
          <a:stretch>
            <a:fillRect/>
          </a:stretch>
        </p:blipFill>
        <p:spPr>
          <a:xfrm>
            <a:off x="7718450" y="1866290"/>
            <a:ext cx="473659" cy="473659"/>
          </a:xfrm>
          <a:prstGeom prst="rect">
            <a:avLst/>
          </a:prstGeom>
        </p:spPr>
      </p:pic>
      <p:sp>
        <p:nvSpPr>
          <p:cNvPr id="11" name="Text 8"/>
          <p:cNvSpPr/>
          <p:nvPr/>
        </p:nvSpPr>
        <p:spPr>
          <a:xfrm>
            <a:off x="7635240" y="2560320"/>
            <a:ext cx="3566160" cy="365760"/>
          </a:xfrm>
          <a:prstGeom prst="rect">
            <a:avLst/>
          </a:prstGeom>
          <a:noFill/>
          <a:ln/>
        </p:spPr>
        <p:txBody>
          <a:bodyPr wrap="square" lIns="0" tIns="0" rIns="0" bIns="0" rtlCol="0" anchor="ctr"/>
          <a:lstStyle/>
          <a:p>
            <a:pPr indent="0" marL="0">
              <a:buNone/>
            </a:pPr>
            <a:r>
              <a:rPr lang="en-US" sz="1300" b="1" dirty="0">
                <a:solidFill>
                  <a:srgbClr val="CFE8F3"/>
                </a:solidFill>
                <a:latin typeface="Calibri" pitchFamily="34" charset="0"/>
                <a:ea typeface="Calibri" pitchFamily="34" charset="-122"/>
                <a:cs typeface="Calibri" pitchFamily="34" charset="-120"/>
              </a:rPr>
              <a:t>Data companies founded in this wave:</a:t>
            </a:r>
            <a:endParaRPr lang="en-US" sz="1300" dirty="0"/>
          </a:p>
        </p:txBody>
      </p:sp>
      <p:sp>
        <p:nvSpPr>
          <p:cNvPr id="12" name="Shape 9"/>
          <p:cNvSpPr/>
          <p:nvPr/>
        </p:nvSpPr>
        <p:spPr>
          <a:xfrm>
            <a:off x="7635240" y="3081528"/>
            <a:ext cx="82296" cy="82296"/>
          </a:xfrm>
          <a:prstGeom prst="ellipse">
            <a:avLst/>
          </a:prstGeom>
          <a:solidFill>
            <a:srgbClr val="FF7A30"/>
          </a:solidFill>
          <a:ln/>
        </p:spPr>
      </p:sp>
      <p:sp>
        <p:nvSpPr>
          <p:cNvPr id="13" name="Text 10"/>
          <p:cNvSpPr/>
          <p:nvPr/>
        </p:nvSpPr>
        <p:spPr>
          <a:xfrm>
            <a:off x="7818120" y="2962656"/>
            <a:ext cx="338328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Google (1998)</a:t>
            </a:r>
            <a:endParaRPr lang="en-US" sz="1200" dirty="0"/>
          </a:p>
        </p:txBody>
      </p:sp>
      <p:sp>
        <p:nvSpPr>
          <p:cNvPr id="14" name="Shape 11"/>
          <p:cNvSpPr/>
          <p:nvPr/>
        </p:nvSpPr>
        <p:spPr>
          <a:xfrm>
            <a:off x="7635240" y="3584448"/>
            <a:ext cx="82296" cy="82296"/>
          </a:xfrm>
          <a:prstGeom prst="ellipse">
            <a:avLst/>
          </a:prstGeom>
          <a:solidFill>
            <a:srgbClr val="FF7A30"/>
          </a:solidFill>
          <a:ln/>
        </p:spPr>
      </p:sp>
      <p:sp>
        <p:nvSpPr>
          <p:cNvPr id="15" name="Text 12"/>
          <p:cNvSpPr/>
          <p:nvPr/>
        </p:nvSpPr>
        <p:spPr>
          <a:xfrm>
            <a:off x="7818120" y="3465576"/>
            <a:ext cx="338328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Facebook (2004)</a:t>
            </a:r>
            <a:endParaRPr lang="en-US" sz="1200" dirty="0"/>
          </a:p>
        </p:txBody>
      </p:sp>
      <p:sp>
        <p:nvSpPr>
          <p:cNvPr id="16" name="Shape 13"/>
          <p:cNvSpPr/>
          <p:nvPr/>
        </p:nvSpPr>
        <p:spPr>
          <a:xfrm>
            <a:off x="7635240" y="4087368"/>
            <a:ext cx="82296" cy="82296"/>
          </a:xfrm>
          <a:prstGeom prst="ellipse">
            <a:avLst/>
          </a:prstGeom>
          <a:solidFill>
            <a:srgbClr val="FF7A30"/>
          </a:solidFill>
          <a:ln/>
        </p:spPr>
      </p:sp>
      <p:sp>
        <p:nvSpPr>
          <p:cNvPr id="17" name="Text 14"/>
          <p:cNvSpPr/>
          <p:nvPr/>
        </p:nvSpPr>
        <p:spPr>
          <a:xfrm>
            <a:off x="7818120" y="3968496"/>
            <a:ext cx="338328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Amazon's recommender engine matures alongside them</a:t>
            </a:r>
            <a:endParaRPr lang="en-US" sz="1200" dirty="0"/>
          </a:p>
        </p:txBody>
      </p:sp>
      <p:sp>
        <p:nvSpPr>
          <p:cNvPr id="18" name="Shape 15"/>
          <p:cNvSpPr/>
          <p:nvPr/>
        </p:nvSpPr>
        <p:spPr>
          <a:xfrm>
            <a:off x="7635240" y="4709160"/>
            <a:ext cx="914400" cy="0"/>
          </a:xfrm>
          <a:prstGeom prst="line">
            <a:avLst/>
          </a:prstGeom>
          <a:noFill/>
          <a:ln w="25400">
            <a:solidFill>
              <a:srgbClr val="0FB5C4"/>
            </a:solidFill>
            <a:prstDash val="solid"/>
          </a:ln>
        </p:spPr>
      </p:sp>
      <p:sp>
        <p:nvSpPr>
          <p:cNvPr id="19" name="Text 16"/>
          <p:cNvSpPr/>
          <p:nvPr/>
        </p:nvSpPr>
        <p:spPr>
          <a:xfrm>
            <a:off x="7635240" y="4846320"/>
            <a:ext cx="3566160" cy="1005840"/>
          </a:xfrm>
          <a:prstGeom prst="rect">
            <a:avLst/>
          </a:prstGeom>
          <a:noFill/>
          <a:ln/>
        </p:spPr>
        <p:txBody>
          <a:bodyPr wrap="square" lIns="0" tIns="0" rIns="0" bIns="0" rtlCol="0" anchor="ctr"/>
          <a:lstStyle/>
          <a:p>
            <a:pPr indent="0" marL="0">
              <a:buNone/>
            </a:pPr>
            <a:r>
              <a:rPr lang="en-US" sz="1150" i="1" dirty="0">
                <a:solidFill>
                  <a:srgbClr val="CFE8F3"/>
                </a:solidFill>
                <a:latin typeface="Calibri" pitchFamily="34" charset="0"/>
                <a:ea typeface="Calibri" pitchFamily="34" charset="-122"/>
                <a:cs typeface="Calibri" pitchFamily="34" charset="-120"/>
              </a:rPr>
              <a:t>These companies didn't just use AI — their business models demanded better AI, funding the research that followed.</a:t>
            </a:r>
            <a:endParaRPr lang="en-US" sz="1150" dirty="0"/>
          </a:p>
        </p:txBody>
      </p:sp>
      <p:sp>
        <p:nvSpPr>
          <p:cNvPr id="20" name="Text 17"/>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A8B3C7"/>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lIns="0" tIns="0" rIns="0" bIns="0" rtlCol="0" anchor="ctr"/>
          <a:lstStyle/>
          <a:p>
            <a:pPr indent="0" marL="0">
              <a:buNone/>
            </a:pPr>
            <a:r>
              <a:rPr lang="en-US" sz="1300" b="1" spc="200" kern="0" dirty="0">
                <a:solidFill>
                  <a:srgbClr val="0FB5C4"/>
                </a:solidFill>
                <a:latin typeface="Calibri" pitchFamily="34" charset="0"/>
                <a:ea typeface="Calibri" pitchFamily="34" charset="-122"/>
                <a:cs typeface="Calibri" pitchFamily="34" charset="-120"/>
              </a:rPr>
              <a:t>2006 – 2011</a:t>
            </a:r>
            <a:endParaRPr lang="en-US" sz="1300" dirty="0"/>
          </a:p>
        </p:txBody>
      </p:sp>
      <p:sp>
        <p:nvSpPr>
          <p:cNvPr id="3" name="Text 1"/>
          <p:cNvSpPr/>
          <p:nvPr/>
        </p:nvSpPr>
        <p:spPr>
          <a:xfrm>
            <a:off x="640080" y="777240"/>
            <a:ext cx="9144000" cy="64008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Neural Networks Return</a:t>
            </a:r>
            <a:endParaRPr lang="en-US" sz="3200" dirty="0"/>
          </a:p>
        </p:txBody>
      </p:sp>
      <p:sp>
        <p:nvSpPr>
          <p:cNvPr id="4" name="Shape 2"/>
          <p:cNvSpPr/>
          <p:nvPr/>
        </p:nvSpPr>
        <p:spPr>
          <a:xfrm>
            <a:off x="640080" y="1691640"/>
            <a:ext cx="5303520" cy="3200400"/>
          </a:xfrm>
          <a:prstGeom prst="roundRect">
            <a:avLst>
              <a:gd name="adj" fmla="val 2857"/>
            </a:avLst>
          </a:prstGeom>
          <a:solidFill>
            <a:srgbClr val="F3F6FA"/>
          </a:solidFill>
          <a:ln/>
          <a:effectLst>
            <a:outerShdw sx="100000" sy="100000" kx="0" ky="0" algn="bl" rotWithShape="0" blurRad="127000" dist="38100" dir="2700000">
              <a:srgbClr val="0B1F3A">
                <a:alpha val="12000"/>
              </a:srgbClr>
            </a:outerShdw>
          </a:effectLst>
        </p:spPr>
      </p:sp>
      <p:sp>
        <p:nvSpPr>
          <p:cNvPr id="5" name="Shape 3"/>
          <p:cNvSpPr/>
          <p:nvPr/>
        </p:nvSpPr>
        <p:spPr>
          <a:xfrm>
            <a:off x="960120" y="1965960"/>
            <a:ext cx="685800" cy="68580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1049274" y="2055114"/>
            <a:ext cx="507492" cy="507492"/>
          </a:xfrm>
          <a:prstGeom prst="rect">
            <a:avLst/>
          </a:prstGeom>
        </p:spPr>
      </p:pic>
      <p:sp>
        <p:nvSpPr>
          <p:cNvPr id="7" name="Text 4"/>
          <p:cNvSpPr/>
          <p:nvPr/>
        </p:nvSpPr>
        <p:spPr>
          <a:xfrm>
            <a:off x="960120" y="2743200"/>
            <a:ext cx="4572000" cy="320040"/>
          </a:xfrm>
          <a:prstGeom prst="rect">
            <a:avLst/>
          </a:prstGeom>
          <a:noFill/>
          <a:ln/>
        </p:spPr>
        <p:txBody>
          <a:bodyPr wrap="square" lIns="0" tIns="0" rIns="0" bIns="0" rtlCol="0" anchor="ctr"/>
          <a:lstStyle/>
          <a:p>
            <a:pPr indent="0" marL="0">
              <a:buNone/>
            </a:pPr>
            <a:r>
              <a:rPr lang="en-US" sz="1300" b="1" dirty="0">
                <a:solidFill>
                  <a:srgbClr val="0FB5C4"/>
                </a:solidFill>
                <a:latin typeface="Calibri" pitchFamily="34" charset="0"/>
                <a:ea typeface="Calibri" pitchFamily="34" charset="-122"/>
                <a:cs typeface="Calibri" pitchFamily="34" charset="-120"/>
              </a:rPr>
              <a:t>2006</a:t>
            </a:r>
            <a:endParaRPr lang="en-US" sz="1300" dirty="0"/>
          </a:p>
        </p:txBody>
      </p:sp>
      <p:sp>
        <p:nvSpPr>
          <p:cNvPr id="8" name="Text 5"/>
          <p:cNvSpPr/>
          <p:nvPr/>
        </p:nvSpPr>
        <p:spPr>
          <a:xfrm>
            <a:off x="960120" y="3063240"/>
            <a:ext cx="4663440" cy="457200"/>
          </a:xfrm>
          <a:prstGeom prst="rect">
            <a:avLst/>
          </a:prstGeom>
          <a:noFill/>
          <a:ln/>
        </p:spPr>
        <p:txBody>
          <a:bodyPr wrap="square" lIns="0" tIns="0" rIns="0" bIns="0" rtlCol="0" anchor="ctr"/>
          <a:lstStyle/>
          <a:p>
            <a:pPr indent="0" marL="0">
              <a:buNone/>
            </a:pPr>
            <a:r>
              <a:rPr lang="en-US" sz="1600" b="1" dirty="0">
                <a:solidFill>
                  <a:srgbClr val="16213E"/>
                </a:solidFill>
                <a:latin typeface="Calibri" pitchFamily="34" charset="0"/>
                <a:ea typeface="Calibri" pitchFamily="34" charset="-122"/>
                <a:cs typeface="Calibri" pitchFamily="34" charset="-120"/>
              </a:rPr>
              <a:t>The Convolutional Neural Network</a:t>
            </a:r>
            <a:endParaRPr lang="en-US" sz="1600" dirty="0"/>
          </a:p>
        </p:txBody>
      </p:sp>
      <p:sp>
        <p:nvSpPr>
          <p:cNvPr id="9" name="Text 6"/>
          <p:cNvSpPr/>
          <p:nvPr/>
        </p:nvSpPr>
        <p:spPr>
          <a:xfrm>
            <a:off x="960120" y="3520440"/>
            <a:ext cx="4663440" cy="1280160"/>
          </a:xfrm>
          <a:prstGeom prst="rect">
            <a:avLst/>
          </a:prstGeom>
          <a:noFill/>
          <a:ln/>
        </p:spPr>
        <p:txBody>
          <a:bodyPr wrap="square" lIns="0" tIns="0" rIns="0" bIns="0" rtlCol="0" anchor="ctr"/>
          <a:lstStyle/>
          <a:p>
            <a:pPr indent="0" marL="0">
              <a:lnSpc>
                <a:spcPct val="115000"/>
              </a:lnSpc>
              <a:buNone/>
            </a:pPr>
            <a:r>
              <a:rPr lang="en-US" sz="1150" dirty="0">
                <a:solidFill>
                  <a:srgbClr val="5B6B8C"/>
                </a:solidFill>
                <a:latin typeface="Calibri" pitchFamily="34" charset="0"/>
                <a:ea typeface="Calibri" pitchFamily="34" charset="-122"/>
                <a:cs typeface="Calibri" pitchFamily="34" charset="-120"/>
              </a:rPr>
              <a:t>Geoffrey Hinton develops a new algorithm that lets computers recognize patterns in images. Facebook, Google, and Amazon quickly adopt it for photo tagging and recommendations — earning Hinton the nickname “The Godfather of AI.”</a:t>
            </a:r>
            <a:endParaRPr lang="en-US" sz="1150" dirty="0"/>
          </a:p>
        </p:txBody>
      </p:sp>
      <p:sp>
        <p:nvSpPr>
          <p:cNvPr id="10" name="Shape 7"/>
          <p:cNvSpPr/>
          <p:nvPr/>
        </p:nvSpPr>
        <p:spPr>
          <a:xfrm>
            <a:off x="6217920" y="1691640"/>
            <a:ext cx="5303520" cy="3200400"/>
          </a:xfrm>
          <a:prstGeom prst="roundRect">
            <a:avLst>
              <a:gd name="adj" fmla="val 2857"/>
            </a:avLst>
          </a:prstGeom>
          <a:solidFill>
            <a:srgbClr val="F3F6FA"/>
          </a:solidFill>
          <a:ln/>
          <a:effectLst>
            <a:outerShdw sx="100000" sy="100000" kx="0" ky="0" algn="bl" rotWithShape="0" blurRad="127000" dist="38100" dir="2700000">
              <a:srgbClr val="0B1F3A">
                <a:alpha val="12000"/>
              </a:srgbClr>
            </a:outerShdw>
          </a:effectLst>
        </p:spPr>
      </p:sp>
      <p:sp>
        <p:nvSpPr>
          <p:cNvPr id="11" name="Shape 8"/>
          <p:cNvSpPr/>
          <p:nvPr/>
        </p:nvSpPr>
        <p:spPr>
          <a:xfrm>
            <a:off x="6537960" y="1965960"/>
            <a:ext cx="685800" cy="685800"/>
          </a:xfrm>
          <a:prstGeom prst="ellipse">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6627114" y="2055114"/>
            <a:ext cx="507492" cy="507492"/>
          </a:xfrm>
          <a:prstGeom prst="rect">
            <a:avLst/>
          </a:prstGeom>
        </p:spPr>
      </p:pic>
      <p:sp>
        <p:nvSpPr>
          <p:cNvPr id="13" name="Text 9"/>
          <p:cNvSpPr/>
          <p:nvPr/>
        </p:nvSpPr>
        <p:spPr>
          <a:xfrm>
            <a:off x="6537960" y="2743200"/>
            <a:ext cx="4572000" cy="320040"/>
          </a:xfrm>
          <a:prstGeom prst="rect">
            <a:avLst/>
          </a:prstGeom>
          <a:noFill/>
          <a:ln/>
        </p:spPr>
        <p:txBody>
          <a:bodyPr wrap="square" lIns="0" tIns="0" rIns="0" bIns="0" rtlCol="0" anchor="ctr"/>
          <a:lstStyle/>
          <a:p>
            <a:pPr indent="0" marL="0">
              <a:buNone/>
            </a:pPr>
            <a:r>
              <a:rPr lang="en-US" sz="1300" b="1" dirty="0">
                <a:solidFill>
                  <a:srgbClr val="0FB5C4"/>
                </a:solidFill>
                <a:latin typeface="Calibri" pitchFamily="34" charset="0"/>
                <a:ea typeface="Calibri" pitchFamily="34" charset="-122"/>
                <a:cs typeface="Calibri" pitchFamily="34" charset="-120"/>
              </a:rPr>
              <a:t>2007</a:t>
            </a:r>
            <a:endParaRPr lang="en-US" sz="1300" dirty="0"/>
          </a:p>
        </p:txBody>
      </p:sp>
      <p:sp>
        <p:nvSpPr>
          <p:cNvPr id="14" name="Text 10"/>
          <p:cNvSpPr/>
          <p:nvPr/>
        </p:nvSpPr>
        <p:spPr>
          <a:xfrm>
            <a:off x="6537960" y="3063240"/>
            <a:ext cx="4663440" cy="457200"/>
          </a:xfrm>
          <a:prstGeom prst="rect">
            <a:avLst/>
          </a:prstGeom>
          <a:noFill/>
          <a:ln/>
        </p:spPr>
        <p:txBody>
          <a:bodyPr wrap="square" lIns="0" tIns="0" rIns="0" bIns="0" rtlCol="0" anchor="ctr"/>
          <a:lstStyle/>
          <a:p>
            <a:pPr indent="0" marL="0">
              <a:buNone/>
            </a:pPr>
            <a:r>
              <a:rPr lang="en-US" sz="1600" b="1" dirty="0">
                <a:solidFill>
                  <a:srgbClr val="16213E"/>
                </a:solidFill>
                <a:latin typeface="Calibri" pitchFamily="34" charset="0"/>
                <a:ea typeface="Calibri" pitchFamily="34" charset="-122"/>
                <a:cs typeface="Calibri" pitchFamily="34" charset="-120"/>
              </a:rPr>
              <a:t>ImageNet is Born</a:t>
            </a:r>
            <a:endParaRPr lang="en-US" sz="1600" dirty="0"/>
          </a:p>
        </p:txBody>
      </p:sp>
      <p:sp>
        <p:nvSpPr>
          <p:cNvPr id="15" name="Text 11"/>
          <p:cNvSpPr/>
          <p:nvPr/>
        </p:nvSpPr>
        <p:spPr>
          <a:xfrm>
            <a:off x="6537960" y="3520440"/>
            <a:ext cx="4663440" cy="1280160"/>
          </a:xfrm>
          <a:prstGeom prst="rect">
            <a:avLst/>
          </a:prstGeom>
          <a:noFill/>
          <a:ln/>
        </p:spPr>
        <p:txBody>
          <a:bodyPr wrap="square" lIns="0" tIns="0" rIns="0" bIns="0" rtlCol="0" anchor="ctr"/>
          <a:lstStyle/>
          <a:p>
            <a:pPr indent="0" marL="0">
              <a:lnSpc>
                <a:spcPct val="115000"/>
              </a:lnSpc>
              <a:buNone/>
            </a:pPr>
            <a:r>
              <a:rPr lang="en-US" sz="1150" dirty="0">
                <a:solidFill>
                  <a:srgbClr val="5B6B8C"/>
                </a:solidFill>
                <a:latin typeface="Calibri" pitchFamily="34" charset="0"/>
                <a:ea typeface="Calibri" pitchFamily="34" charset="-122"/>
                <a:cs typeface="Calibri" pitchFamily="34" charset="-120"/>
              </a:rPr>
              <a:t>Stanford professor Fei-Fei Li launches ImageNet, the world's largest open-source labeled image dataset, hoping to spur the algorithm the field needs to prove true pattern recognition.</a:t>
            </a:r>
            <a:endParaRPr lang="en-US" sz="1150" dirty="0"/>
          </a:p>
        </p:txBody>
      </p:sp>
      <p:sp>
        <p:nvSpPr>
          <p:cNvPr id="16" name="Shape 12"/>
          <p:cNvSpPr/>
          <p:nvPr/>
        </p:nvSpPr>
        <p:spPr>
          <a:xfrm>
            <a:off x="640080" y="5074920"/>
            <a:ext cx="10881360" cy="1097280"/>
          </a:xfrm>
          <a:prstGeom prst="roundRect">
            <a:avLst>
              <a:gd name="adj" fmla="val 6667"/>
            </a:avLst>
          </a:prstGeom>
          <a:solidFill>
            <a:srgbClr val="0B1F3A"/>
          </a:solidFill>
          <a:ln/>
        </p:spPr>
      </p:sp>
      <p:sp>
        <p:nvSpPr>
          <p:cNvPr id="17" name="Text 13"/>
          <p:cNvSpPr/>
          <p:nvPr/>
        </p:nvSpPr>
        <p:spPr>
          <a:xfrm>
            <a:off x="914400" y="5212080"/>
            <a:ext cx="10332720" cy="822960"/>
          </a:xfrm>
          <a:prstGeom prst="rect">
            <a:avLst/>
          </a:prstGeom>
          <a:noFill/>
          <a:ln/>
        </p:spPr>
        <p:txBody>
          <a:bodyPr wrap="square" lIns="0" tIns="0" rIns="0" bIns="0" rtlCol="0" anchor="ctr"/>
          <a:lstStyle/>
          <a:p>
            <a:pPr algn="ctr" indent="0" marL="0">
              <a:buNone/>
            </a:pPr>
            <a:r>
              <a:rPr lang="en-US" sz="1400" i="1" dirty="0">
                <a:solidFill>
                  <a:srgbClr val="FFFFFF"/>
                </a:solidFill>
                <a:latin typeface="Cambria" pitchFamily="34" charset="0"/>
                <a:ea typeface="Cambria" pitchFamily="34" charset="-122"/>
                <a:cs typeface="Cambria" pitchFamily="34" charset="-120"/>
              </a:rPr>
              <a:t>For a few years, ImageNet's annual competition draws few strong entries. Then, in 2012, everything changes.</a:t>
            </a:r>
            <a:endParaRPr lang="en-US" sz="1400" dirty="0"/>
          </a:p>
        </p:txBody>
      </p:sp>
      <p:sp>
        <p:nvSpPr>
          <p:cNvPr id="18" name="Text 14"/>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A8B3C7"/>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502920"/>
            <a:ext cx="731520" cy="731520"/>
          </a:xfrm>
          <a:prstGeom prst="ellipse">
            <a:avLst/>
          </a:prstGeom>
          <a:solidFill>
            <a:srgbClr val="13294B"/>
          </a:solidFill>
          <a:ln/>
        </p:spPr>
      </p:sp>
      <p:pic>
        <p:nvPicPr>
          <p:cNvPr id="3" name="Image 0" descr="preencoded.png">    </p:cNvPr>
          <p:cNvPicPr>
            <a:picLocks noChangeAspect="1"/>
          </p:cNvPicPr>
          <p:nvPr/>
        </p:nvPicPr>
        <p:blipFill>
          <a:blip r:embed="rId1"/>
          <a:stretch>
            <a:fillRect/>
          </a:stretch>
        </p:blipFill>
        <p:spPr>
          <a:xfrm>
            <a:off x="735178" y="598018"/>
            <a:ext cx="541325" cy="541325"/>
          </a:xfrm>
          <a:prstGeom prst="rect">
            <a:avLst/>
          </a:prstGeom>
        </p:spPr>
      </p:pic>
      <p:sp>
        <p:nvSpPr>
          <p:cNvPr id="4" name="Text 1"/>
          <p:cNvSpPr/>
          <p:nvPr/>
        </p:nvSpPr>
        <p:spPr>
          <a:xfrm>
            <a:off x="1554480" y="594360"/>
            <a:ext cx="5486400" cy="320040"/>
          </a:xfrm>
          <a:prstGeom prst="rect">
            <a:avLst/>
          </a:prstGeom>
          <a:noFill/>
          <a:ln/>
        </p:spPr>
        <p:txBody>
          <a:bodyPr wrap="square" lIns="0" tIns="0" rIns="0" bIns="0" rtlCol="0" anchor="ctr"/>
          <a:lstStyle/>
          <a:p>
            <a:pPr indent="0" marL="0">
              <a:buNone/>
            </a:pPr>
            <a:r>
              <a:rPr lang="en-US" sz="1300" b="1" spc="200" kern="0" dirty="0">
                <a:solidFill>
                  <a:srgbClr val="FF7A30"/>
                </a:solidFill>
                <a:latin typeface="Calibri" pitchFamily="34" charset="0"/>
                <a:ea typeface="Calibri" pitchFamily="34" charset="-122"/>
                <a:cs typeface="Calibri" pitchFamily="34" charset="-120"/>
              </a:rPr>
              <a:t>2012</a:t>
            </a:r>
            <a:endParaRPr lang="en-US" sz="1300" dirty="0"/>
          </a:p>
        </p:txBody>
      </p:sp>
      <p:sp>
        <p:nvSpPr>
          <p:cNvPr id="5" name="Text 2"/>
          <p:cNvSpPr/>
          <p:nvPr/>
        </p:nvSpPr>
        <p:spPr>
          <a:xfrm>
            <a:off x="1554480" y="914400"/>
            <a:ext cx="86868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“Big Bang” of Modern AI</a:t>
            </a:r>
            <a:endParaRPr lang="en-US" sz="3200" dirty="0"/>
          </a:p>
        </p:txBody>
      </p:sp>
      <p:sp>
        <p:nvSpPr>
          <p:cNvPr id="6" name="Text 3"/>
          <p:cNvSpPr/>
          <p:nvPr/>
        </p:nvSpPr>
        <p:spPr>
          <a:xfrm>
            <a:off x="640080" y="1691640"/>
            <a:ext cx="6400800" cy="1554480"/>
          </a:xfrm>
          <a:prstGeom prst="rect">
            <a:avLst/>
          </a:prstGeom>
          <a:noFill/>
          <a:ln/>
        </p:spPr>
        <p:txBody>
          <a:bodyPr wrap="square" lIns="0" tIns="0" rIns="0" bIns="0" rtlCol="0" anchor="ctr"/>
          <a:lstStyle/>
          <a:p>
            <a:pPr indent="0" marL="0">
              <a:lnSpc>
                <a:spcPct val="120000"/>
              </a:lnSpc>
              <a:buNone/>
            </a:pPr>
            <a:r>
              <a:rPr lang="en-US" sz="1400" dirty="0">
                <a:solidFill>
                  <a:srgbClr val="CFE8F3"/>
                </a:solidFill>
                <a:latin typeface="Calibri" pitchFamily="34" charset="0"/>
                <a:ea typeface="Calibri" pitchFamily="34" charset="-122"/>
                <a:cs typeface="Calibri" pitchFamily="34" charset="-120"/>
              </a:rPr>
              <a:t>Geoffrey Hinton and two students, Ilya Sutskever and Alex Krizhevsky, enter the ImageNet competition with a convolutional neural network called AlexNet. It doesn't just win — it obliterates the competition, and the AI community still calls this moment the field's Big Bang.</a:t>
            </a:r>
            <a:endParaRPr lang="en-US" sz="1400" dirty="0"/>
          </a:p>
        </p:txBody>
      </p:sp>
      <p:sp>
        <p:nvSpPr>
          <p:cNvPr id="7" name="Shape 4"/>
          <p:cNvSpPr/>
          <p:nvPr/>
        </p:nvSpPr>
        <p:spPr>
          <a:xfrm>
            <a:off x="640080" y="3246120"/>
            <a:ext cx="1097280" cy="0"/>
          </a:xfrm>
          <a:prstGeom prst="line">
            <a:avLst/>
          </a:prstGeom>
          <a:noFill/>
          <a:ln w="25400">
            <a:solidFill>
              <a:srgbClr val="0FB5C4"/>
            </a:solidFill>
            <a:prstDash val="solid"/>
          </a:ln>
        </p:spPr>
      </p:sp>
      <p:sp>
        <p:nvSpPr>
          <p:cNvPr id="8" name="Text 5"/>
          <p:cNvSpPr/>
          <p:nvPr/>
        </p:nvSpPr>
        <p:spPr>
          <a:xfrm>
            <a:off x="640080" y="3429000"/>
            <a:ext cx="6400800" cy="1737360"/>
          </a:xfrm>
          <a:prstGeom prst="rect">
            <a:avLst/>
          </a:prstGeom>
          <a:noFill/>
          <a:ln/>
        </p:spPr>
        <p:txBody>
          <a:bodyPr wrap="square" lIns="0" tIns="0" rIns="0" bIns="0" rtlCol="0" anchor="ctr"/>
          <a:lstStyle/>
          <a:p>
            <a:pPr indent="0" marL="0">
              <a:lnSpc>
                <a:spcPct val="120000"/>
              </a:lnSpc>
              <a:buNone/>
            </a:pPr>
            <a:r>
              <a:rPr lang="en-US" sz="1300" dirty="0">
                <a:solidFill>
                  <a:srgbClr val="CFE8F3"/>
                </a:solidFill>
                <a:latin typeface="Calibri" pitchFamily="34" charset="0"/>
                <a:ea typeface="Calibri" pitchFamily="34" charset="-122"/>
                <a:cs typeface="Calibri" pitchFamily="34" charset="-120"/>
              </a:rPr>
              <a:t>AlexNet's secret wasn't only the algorithm — it was trained using GPUs, chips originally built by Nvidia for video games. This breakthrough convinces Nvidia CEO Jensen Huang to redirect the entire company toward AI hardware, a bet that turns Nvidia into one of the world's most valuable companies within a decade.</a:t>
            </a:r>
            <a:endParaRPr lang="en-US" sz="1300" dirty="0"/>
          </a:p>
        </p:txBody>
      </p:sp>
      <p:sp>
        <p:nvSpPr>
          <p:cNvPr id="9" name="Shape 6"/>
          <p:cNvSpPr/>
          <p:nvPr/>
        </p:nvSpPr>
        <p:spPr>
          <a:xfrm>
            <a:off x="7360920" y="1691640"/>
            <a:ext cx="4160520" cy="1965960"/>
          </a:xfrm>
          <a:prstGeom prst="roundRect">
            <a:avLst>
              <a:gd name="adj" fmla="val 4651"/>
            </a:avLst>
          </a:prstGeom>
          <a:solidFill>
            <a:srgbClr val="13294B"/>
          </a:solidFill>
          <a:ln/>
        </p:spPr>
      </p:sp>
      <p:sp>
        <p:nvSpPr>
          <p:cNvPr id="10" name="Text 7"/>
          <p:cNvSpPr/>
          <p:nvPr/>
        </p:nvSpPr>
        <p:spPr>
          <a:xfrm>
            <a:off x="7589520" y="1874520"/>
            <a:ext cx="3657600" cy="274320"/>
          </a:xfrm>
          <a:prstGeom prst="rect">
            <a:avLst/>
          </a:prstGeom>
          <a:noFill/>
          <a:ln/>
        </p:spPr>
        <p:txBody>
          <a:bodyPr wrap="square" lIns="0" tIns="0" rIns="0" bIns="0" rtlCol="0" anchor="ctr"/>
          <a:lstStyle/>
          <a:p>
            <a:pPr indent="0" marL="0">
              <a:buNone/>
            </a:pPr>
            <a:r>
              <a:rPr lang="en-US" sz="1100" b="1" spc="100" kern="0" dirty="0">
                <a:solidFill>
                  <a:srgbClr val="FF7A30"/>
                </a:solidFill>
                <a:latin typeface="Calibri" pitchFamily="34" charset="0"/>
                <a:ea typeface="Calibri" pitchFamily="34" charset="-122"/>
                <a:cs typeface="Calibri" pitchFamily="34" charset="-120"/>
              </a:rPr>
              <a:t>DATA + ALGORITHM + COMPUTE</a:t>
            </a:r>
            <a:endParaRPr lang="en-US" sz="1100" dirty="0"/>
          </a:p>
        </p:txBody>
      </p:sp>
      <p:sp>
        <p:nvSpPr>
          <p:cNvPr id="11" name="Text 8"/>
          <p:cNvSpPr/>
          <p:nvPr/>
        </p:nvSpPr>
        <p:spPr>
          <a:xfrm>
            <a:off x="7589520" y="2194560"/>
            <a:ext cx="3657600" cy="1371600"/>
          </a:xfrm>
          <a:prstGeom prst="rect">
            <a:avLst/>
          </a:prstGeom>
          <a:noFill/>
          <a:ln/>
        </p:spPr>
        <p:txBody>
          <a:bodyPr wrap="square" lIns="0" tIns="0" rIns="0" bIns="0" rtlCol="0" anchor="ctr"/>
          <a:lstStyle/>
          <a:p>
            <a:pPr indent="0" marL="0">
              <a:lnSpc>
                <a:spcPct val="120000"/>
              </a:lnSpc>
              <a:buNone/>
            </a:pPr>
            <a:r>
              <a:rPr lang="en-US" sz="1300" dirty="0">
                <a:solidFill>
                  <a:srgbClr val="FFFFFF"/>
                </a:solidFill>
                <a:latin typeface="Calibri" pitchFamily="34" charset="0"/>
                <a:ea typeface="Calibri" pitchFamily="34" charset="-122"/>
                <a:cs typeface="Calibri" pitchFamily="34" charset="-120"/>
              </a:rPr>
              <a:t>The formula IBM hinted at with Deep Blue in 1997 finally has all three ingredients at scale.</a:t>
            </a:r>
            <a:endParaRPr lang="en-US" sz="1300" dirty="0"/>
          </a:p>
        </p:txBody>
      </p:sp>
      <p:sp>
        <p:nvSpPr>
          <p:cNvPr id="12" name="Shape 9"/>
          <p:cNvSpPr/>
          <p:nvPr/>
        </p:nvSpPr>
        <p:spPr>
          <a:xfrm>
            <a:off x="7360920" y="3794760"/>
            <a:ext cx="4160520" cy="2103120"/>
          </a:xfrm>
          <a:prstGeom prst="roundRect">
            <a:avLst>
              <a:gd name="adj" fmla="val 4348"/>
            </a:avLst>
          </a:prstGeom>
          <a:solidFill>
            <a:srgbClr val="13294B"/>
          </a:solidFill>
          <a:ln/>
        </p:spPr>
      </p:sp>
      <p:sp>
        <p:nvSpPr>
          <p:cNvPr id="13" name="Text 10"/>
          <p:cNvSpPr/>
          <p:nvPr/>
        </p:nvSpPr>
        <p:spPr>
          <a:xfrm>
            <a:off x="7589520" y="3977640"/>
            <a:ext cx="3657600" cy="548640"/>
          </a:xfrm>
          <a:prstGeom prst="rect">
            <a:avLst/>
          </a:prstGeom>
          <a:noFill/>
          <a:ln/>
        </p:spPr>
        <p:txBody>
          <a:bodyPr wrap="square" lIns="0" tIns="0" rIns="0" bIns="0" rtlCol="0" anchor="ctr"/>
          <a:lstStyle/>
          <a:p>
            <a:pPr indent="0" marL="0">
              <a:buNone/>
            </a:pPr>
            <a:r>
              <a:rPr lang="en-US" sz="3000" b="1" dirty="0">
                <a:solidFill>
                  <a:srgbClr val="0FB5C4"/>
                </a:solidFill>
                <a:latin typeface="Cambria" pitchFamily="34" charset="0"/>
                <a:ea typeface="Cambria" pitchFamily="34" charset="-122"/>
                <a:cs typeface="Cambria" pitchFamily="34" charset="-120"/>
              </a:rPr>
              <a:t>~5,300,000×</a:t>
            </a:r>
            <a:endParaRPr lang="en-US" sz="3000" dirty="0"/>
          </a:p>
        </p:txBody>
      </p:sp>
      <p:sp>
        <p:nvSpPr>
          <p:cNvPr id="14" name="Text 11"/>
          <p:cNvSpPr/>
          <p:nvPr/>
        </p:nvSpPr>
        <p:spPr>
          <a:xfrm>
            <a:off x="7589520" y="4572000"/>
            <a:ext cx="3657600" cy="1188720"/>
          </a:xfrm>
          <a:prstGeom prst="rect">
            <a:avLst/>
          </a:prstGeom>
          <a:noFill/>
          <a:ln/>
        </p:spPr>
        <p:txBody>
          <a:bodyPr wrap="square" lIns="0" tIns="0" rIns="0" bIns="0" rtlCol="0" anchor="ctr"/>
          <a:lstStyle/>
          <a:p>
            <a:pPr indent="0" marL="0">
              <a:lnSpc>
                <a:spcPct val="115000"/>
              </a:lnSpc>
              <a:buNone/>
            </a:pPr>
            <a:r>
              <a:rPr lang="en-US" sz="1050" dirty="0">
                <a:solidFill>
                  <a:srgbClr val="CFE8F3"/>
                </a:solidFill>
                <a:latin typeface="Calibri" pitchFamily="34" charset="0"/>
                <a:ea typeface="Calibri" pitchFamily="34" charset="-122"/>
                <a:cs typeface="Calibri" pitchFamily="34" charset="-120"/>
              </a:rPr>
              <a:t>the increase in AI training computation between AlexNet (2012) and Google's PaLM model (2022) — illustrating how fast the field accelerated after this moment.</a:t>
            </a:r>
            <a:endParaRPr lang="en-US" sz="1050" dirty="0"/>
          </a:p>
        </p:txBody>
      </p:sp>
      <p:sp>
        <p:nvSpPr>
          <p:cNvPr id="15" name="Text 12"/>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6E85AD"/>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lIns="0" tIns="0" rIns="0" bIns="0" rtlCol="0" anchor="ctr"/>
          <a:lstStyle/>
          <a:p>
            <a:pPr indent="0" marL="0">
              <a:buNone/>
            </a:pPr>
            <a:r>
              <a:rPr lang="en-US" sz="1300" b="1" spc="200" kern="0" dirty="0">
                <a:solidFill>
                  <a:srgbClr val="0FB5C4"/>
                </a:solidFill>
                <a:latin typeface="Calibri" pitchFamily="34" charset="0"/>
                <a:ea typeface="Calibri" pitchFamily="34" charset="-122"/>
                <a:cs typeface="Calibri" pitchFamily="34" charset="-120"/>
              </a:rPr>
              <a:t>THE DATA PERSPECTIVE</a:t>
            </a:r>
            <a:endParaRPr lang="en-US" sz="1300" dirty="0"/>
          </a:p>
        </p:txBody>
      </p:sp>
      <p:sp>
        <p:nvSpPr>
          <p:cNvPr id="3" name="Text 1"/>
          <p:cNvSpPr/>
          <p:nvPr/>
        </p:nvSpPr>
        <p:spPr>
          <a:xfrm>
            <a:off x="640080" y="777240"/>
            <a:ext cx="10515600" cy="64008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Training Compute Has Grown Exponentially</a:t>
            </a:r>
            <a:endParaRPr lang="en-US" sz="2800" dirty="0"/>
          </a:p>
        </p:txBody>
      </p:sp>
      <p:sp>
        <p:nvSpPr>
          <p:cNvPr id="4" name="Text 2"/>
          <p:cNvSpPr/>
          <p:nvPr/>
        </p:nvSpPr>
        <p:spPr>
          <a:xfrm>
            <a:off x="640080" y="1371600"/>
            <a:ext cx="10515600" cy="365760"/>
          </a:xfrm>
          <a:prstGeom prst="rect">
            <a:avLst/>
          </a:prstGeom>
          <a:noFill/>
          <a:ln/>
        </p:spPr>
        <p:txBody>
          <a:bodyPr wrap="square" lIns="0" tIns="0" rIns="0" bIns="0" rtlCol="0" anchor="ctr"/>
          <a:lstStyle/>
          <a:p>
            <a:pPr indent="0" marL="0">
              <a:buNone/>
            </a:pPr>
            <a:r>
              <a:rPr lang="en-US" sz="1150" i="1" dirty="0">
                <a:solidFill>
                  <a:srgbClr val="5B6B8C"/>
                </a:solidFill>
                <a:latin typeface="Calibri" pitchFamily="34" charset="0"/>
                <a:ea typeface="Calibri" pitchFamily="34" charset="-122"/>
                <a:cs typeface="Calibri" pitchFamily="34" charset="-120"/>
              </a:rPr>
              <a:t>Illustrative training-compute scale (log₁₀ of FLOP) for notable AI systems, based on trends reported by Our World in Data / Epoch AI.</a:t>
            </a:r>
            <a:endParaRPr lang="en-US" sz="1150" dirty="0"/>
          </a:p>
        </p:txBody>
      </p:sp>
      <p:graphicFrame>
        <p:nvGraphicFramePr>
          <p:cNvPr id="5" name="Chart 0" descr=""/>
          <p:cNvGraphicFramePr/>
          <p:nvPr/>
        </p:nvGraphicFramePr>
        <p:xfrm>
          <a:off x="548640" y="1828800"/>
          <a:ext cx="11064240" cy="38404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 y="5943600"/>
            <a:ext cx="10881360" cy="45720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Since 2010, the doubling time for training compute has shrunk from roughly 20 months (in line with Moore's Law) to about 6 months.</a:t>
            </a:r>
            <a:endParaRPr lang="en-US" sz="1200" dirty="0"/>
          </a:p>
        </p:txBody>
      </p:sp>
      <p:sp>
        <p:nvSpPr>
          <p:cNvPr id="7" name="Text 4"/>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A8B3C7"/>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lIns="0" tIns="0" rIns="0" bIns="0" rtlCol="0" anchor="ctr"/>
          <a:lstStyle/>
          <a:p>
            <a:pPr indent="0" marL="0">
              <a:buNone/>
            </a:pPr>
            <a:r>
              <a:rPr lang="en-US" sz="1300" b="1" spc="200" kern="0" dirty="0">
                <a:solidFill>
                  <a:srgbClr val="0FB5C4"/>
                </a:solidFill>
                <a:latin typeface="Calibri" pitchFamily="34" charset="0"/>
                <a:ea typeface="Calibri" pitchFamily="34" charset="-122"/>
                <a:cs typeface="Calibri" pitchFamily="34" charset="-120"/>
              </a:rPr>
              <a:t>2012 – 2017</a:t>
            </a:r>
            <a:endParaRPr lang="en-US" sz="1300" dirty="0"/>
          </a:p>
        </p:txBody>
      </p:sp>
      <p:sp>
        <p:nvSpPr>
          <p:cNvPr id="3" name="Text 1"/>
          <p:cNvSpPr/>
          <p:nvPr/>
        </p:nvSpPr>
        <p:spPr>
          <a:xfrm>
            <a:off x="640080" y="777240"/>
            <a:ext cx="9144000" cy="64008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The AI Arms Race Begins</a:t>
            </a:r>
            <a:endParaRPr lang="en-US" sz="3200" dirty="0"/>
          </a:p>
        </p:txBody>
      </p:sp>
      <p:sp>
        <p:nvSpPr>
          <p:cNvPr id="4" name="Shape 2"/>
          <p:cNvSpPr/>
          <p:nvPr/>
        </p:nvSpPr>
        <p:spPr>
          <a:xfrm>
            <a:off x="640080" y="1691640"/>
            <a:ext cx="5257800" cy="1965960"/>
          </a:xfrm>
          <a:prstGeom prst="roundRect">
            <a:avLst>
              <a:gd name="adj" fmla="val 3721"/>
            </a:avLst>
          </a:prstGeom>
          <a:solidFill>
            <a:srgbClr val="F3F6FA"/>
          </a:solidFill>
          <a:ln/>
          <a:effectLst>
            <a:outerShdw sx="100000" sy="100000" kx="0" ky="0" algn="bl" rotWithShape="0" blurRad="127000" dist="38100" dir="2700000">
              <a:srgbClr val="0B1F3A">
                <a:alpha val="12000"/>
              </a:srgbClr>
            </a:outerShdw>
          </a:effectLst>
        </p:spPr>
      </p:sp>
      <p:sp>
        <p:nvSpPr>
          <p:cNvPr id="5" name="Shape 3"/>
          <p:cNvSpPr/>
          <p:nvPr/>
        </p:nvSpPr>
        <p:spPr>
          <a:xfrm>
            <a:off x="868680" y="1920240"/>
            <a:ext cx="566928" cy="566928"/>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942381" y="1993941"/>
            <a:ext cx="419527" cy="419527"/>
          </a:xfrm>
          <a:prstGeom prst="rect">
            <a:avLst/>
          </a:prstGeom>
        </p:spPr>
      </p:pic>
      <p:sp>
        <p:nvSpPr>
          <p:cNvPr id="7" name="Text 4"/>
          <p:cNvSpPr/>
          <p:nvPr/>
        </p:nvSpPr>
        <p:spPr>
          <a:xfrm>
            <a:off x="1600200" y="1874520"/>
            <a:ext cx="4069080" cy="365760"/>
          </a:xfrm>
          <a:prstGeom prst="rect">
            <a:avLst/>
          </a:prstGeom>
          <a:noFill/>
          <a:ln/>
        </p:spPr>
        <p:txBody>
          <a:bodyPr wrap="square" lIns="0" tIns="0" rIns="0" bIns="0" rtlCol="0" anchor="ctr"/>
          <a:lstStyle/>
          <a:p>
            <a:pPr indent="0" marL="0">
              <a:buNone/>
            </a:pPr>
            <a:r>
              <a:rPr lang="en-US" sz="1450" b="1" dirty="0">
                <a:solidFill>
                  <a:srgbClr val="16213E"/>
                </a:solidFill>
                <a:latin typeface="Calibri" pitchFamily="34" charset="0"/>
                <a:ea typeface="Calibri" pitchFamily="34" charset="-122"/>
                <a:cs typeface="Calibri" pitchFamily="34" charset="-120"/>
              </a:rPr>
              <a:t>Nvidia Goes All-In</a:t>
            </a:r>
            <a:endParaRPr lang="en-US" sz="1450" dirty="0"/>
          </a:p>
        </p:txBody>
      </p:sp>
      <p:sp>
        <p:nvSpPr>
          <p:cNvPr id="8" name="Text 5"/>
          <p:cNvSpPr/>
          <p:nvPr/>
        </p:nvSpPr>
        <p:spPr>
          <a:xfrm>
            <a:off x="1600200" y="2258568"/>
            <a:ext cx="4069080" cy="1280160"/>
          </a:xfrm>
          <a:prstGeom prst="rect">
            <a:avLst/>
          </a:prstGeom>
          <a:noFill/>
          <a:ln/>
        </p:spPr>
        <p:txBody>
          <a:bodyPr wrap="square" lIns="0" tIns="0" rIns="0" bIns="0" rtlCol="0" anchor="ctr"/>
          <a:lstStyle/>
          <a:p>
            <a:pPr indent="0" marL="0">
              <a:lnSpc>
                <a:spcPct val="112000"/>
              </a:lnSpc>
              <a:buNone/>
            </a:pPr>
            <a:r>
              <a:rPr lang="en-US" sz="1100" dirty="0">
                <a:solidFill>
                  <a:srgbClr val="5B6B8C"/>
                </a:solidFill>
                <a:latin typeface="Calibri" pitchFamily="34" charset="0"/>
                <a:ea typeface="Calibri" pitchFamily="34" charset="-122"/>
                <a:cs typeface="Calibri" pitchFamily="34" charset="-120"/>
              </a:rPr>
              <a:t>Jensen Huang redirects Nvidia from gaming graphics to building the most powerful AI chips in the world — chips that now power the vast majority of AI systems globally.</a:t>
            </a:r>
            <a:endParaRPr lang="en-US" sz="1100" dirty="0"/>
          </a:p>
        </p:txBody>
      </p:sp>
      <p:sp>
        <p:nvSpPr>
          <p:cNvPr id="9" name="Shape 6"/>
          <p:cNvSpPr/>
          <p:nvPr/>
        </p:nvSpPr>
        <p:spPr>
          <a:xfrm>
            <a:off x="6263640" y="1691640"/>
            <a:ext cx="5257800" cy="1965960"/>
          </a:xfrm>
          <a:prstGeom prst="roundRect">
            <a:avLst>
              <a:gd name="adj" fmla="val 3721"/>
            </a:avLst>
          </a:prstGeom>
          <a:solidFill>
            <a:srgbClr val="F3F6FA"/>
          </a:solidFill>
          <a:ln/>
          <a:effectLst>
            <a:outerShdw sx="100000" sy="100000" kx="0" ky="0" algn="bl" rotWithShape="0" blurRad="127000" dist="38100" dir="2700000">
              <a:srgbClr val="0B1F3A">
                <a:alpha val="12000"/>
              </a:srgbClr>
            </a:outerShdw>
          </a:effectLst>
        </p:spPr>
      </p:sp>
      <p:sp>
        <p:nvSpPr>
          <p:cNvPr id="10" name="Shape 7"/>
          <p:cNvSpPr/>
          <p:nvPr/>
        </p:nvSpPr>
        <p:spPr>
          <a:xfrm>
            <a:off x="6492240" y="1920240"/>
            <a:ext cx="566928" cy="566928"/>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565941" y="1993941"/>
            <a:ext cx="419527" cy="419527"/>
          </a:xfrm>
          <a:prstGeom prst="rect">
            <a:avLst/>
          </a:prstGeom>
        </p:spPr>
      </p:pic>
      <p:sp>
        <p:nvSpPr>
          <p:cNvPr id="12" name="Text 8"/>
          <p:cNvSpPr/>
          <p:nvPr/>
        </p:nvSpPr>
        <p:spPr>
          <a:xfrm>
            <a:off x="7223760" y="1874520"/>
            <a:ext cx="4069080" cy="365760"/>
          </a:xfrm>
          <a:prstGeom prst="rect">
            <a:avLst/>
          </a:prstGeom>
          <a:noFill/>
          <a:ln/>
        </p:spPr>
        <p:txBody>
          <a:bodyPr wrap="square" lIns="0" tIns="0" rIns="0" bIns="0" rtlCol="0" anchor="ctr"/>
          <a:lstStyle/>
          <a:p>
            <a:pPr indent="0" marL="0">
              <a:buNone/>
            </a:pPr>
            <a:r>
              <a:rPr lang="en-US" sz="1450" b="1" dirty="0">
                <a:solidFill>
                  <a:srgbClr val="16213E"/>
                </a:solidFill>
                <a:latin typeface="Calibri" pitchFamily="34" charset="0"/>
                <a:ea typeface="Calibri" pitchFamily="34" charset="-122"/>
                <a:cs typeface="Calibri" pitchFamily="34" charset="-120"/>
              </a:rPr>
              <a:t>DeepMind's AlphaGo (2016)</a:t>
            </a:r>
            <a:endParaRPr lang="en-US" sz="1450" dirty="0"/>
          </a:p>
        </p:txBody>
      </p:sp>
      <p:sp>
        <p:nvSpPr>
          <p:cNvPr id="13" name="Text 9"/>
          <p:cNvSpPr/>
          <p:nvPr/>
        </p:nvSpPr>
        <p:spPr>
          <a:xfrm>
            <a:off x="7223760" y="2258568"/>
            <a:ext cx="4069080" cy="1280160"/>
          </a:xfrm>
          <a:prstGeom prst="rect">
            <a:avLst/>
          </a:prstGeom>
          <a:noFill/>
          <a:ln/>
        </p:spPr>
        <p:txBody>
          <a:bodyPr wrap="square" lIns="0" tIns="0" rIns="0" bIns="0" rtlCol="0" anchor="ctr"/>
          <a:lstStyle/>
          <a:p>
            <a:pPr indent="0" marL="0">
              <a:lnSpc>
                <a:spcPct val="112000"/>
              </a:lnSpc>
              <a:buNone/>
            </a:pPr>
            <a:r>
              <a:rPr lang="en-US" sz="1100" dirty="0">
                <a:solidFill>
                  <a:srgbClr val="5B6B8C"/>
                </a:solidFill>
                <a:latin typeface="Calibri" pitchFamily="34" charset="0"/>
                <a:ea typeface="Calibri" pitchFamily="34" charset="-122"/>
                <a:cs typeface="Calibri" pitchFamily="34" charset="-120"/>
              </a:rPr>
              <a:t>Google-owned DeepMind builds an AI that beats the world's strongest Go player, followed by AlphaZero mastering chess — validating Google as a leader in AI research.</a:t>
            </a:r>
            <a:endParaRPr lang="en-US" sz="1100" dirty="0"/>
          </a:p>
        </p:txBody>
      </p:sp>
      <p:sp>
        <p:nvSpPr>
          <p:cNvPr id="14" name="Shape 10"/>
          <p:cNvSpPr/>
          <p:nvPr/>
        </p:nvSpPr>
        <p:spPr>
          <a:xfrm>
            <a:off x="640080" y="3886200"/>
            <a:ext cx="5257800" cy="1965960"/>
          </a:xfrm>
          <a:prstGeom prst="roundRect">
            <a:avLst>
              <a:gd name="adj" fmla="val 3721"/>
            </a:avLst>
          </a:prstGeom>
          <a:solidFill>
            <a:srgbClr val="F3F6FA"/>
          </a:solidFill>
          <a:ln/>
          <a:effectLst>
            <a:outerShdw sx="100000" sy="100000" kx="0" ky="0" algn="bl" rotWithShape="0" blurRad="127000" dist="38100" dir="2700000">
              <a:srgbClr val="0B1F3A">
                <a:alpha val="12000"/>
              </a:srgbClr>
            </a:outerShdw>
          </a:effectLst>
        </p:spPr>
      </p:sp>
      <p:sp>
        <p:nvSpPr>
          <p:cNvPr id="15" name="Shape 11"/>
          <p:cNvSpPr/>
          <p:nvPr/>
        </p:nvSpPr>
        <p:spPr>
          <a:xfrm>
            <a:off x="868680" y="4114800"/>
            <a:ext cx="566928" cy="566928"/>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942381" y="4188501"/>
            <a:ext cx="419527" cy="419527"/>
          </a:xfrm>
          <a:prstGeom prst="rect">
            <a:avLst/>
          </a:prstGeom>
        </p:spPr>
      </p:pic>
      <p:sp>
        <p:nvSpPr>
          <p:cNvPr id="17" name="Text 12"/>
          <p:cNvSpPr/>
          <p:nvPr/>
        </p:nvSpPr>
        <p:spPr>
          <a:xfrm>
            <a:off x="1600200" y="4069080"/>
            <a:ext cx="4069080" cy="365760"/>
          </a:xfrm>
          <a:prstGeom prst="rect">
            <a:avLst/>
          </a:prstGeom>
          <a:noFill/>
          <a:ln/>
        </p:spPr>
        <p:txBody>
          <a:bodyPr wrap="square" lIns="0" tIns="0" rIns="0" bIns="0" rtlCol="0" anchor="ctr"/>
          <a:lstStyle/>
          <a:p>
            <a:pPr indent="0" marL="0">
              <a:buNone/>
            </a:pPr>
            <a:r>
              <a:rPr lang="en-US" sz="1450" b="1" dirty="0">
                <a:solidFill>
                  <a:srgbClr val="16213E"/>
                </a:solidFill>
                <a:latin typeface="Calibri" pitchFamily="34" charset="0"/>
                <a:ea typeface="Calibri" pitchFamily="34" charset="-122"/>
                <a:cs typeface="Calibri" pitchFamily="34" charset="-120"/>
              </a:rPr>
              <a:t>Google Invents the Transformer (2017)</a:t>
            </a:r>
            <a:endParaRPr lang="en-US" sz="1450" dirty="0"/>
          </a:p>
        </p:txBody>
      </p:sp>
      <p:sp>
        <p:nvSpPr>
          <p:cNvPr id="18" name="Text 13"/>
          <p:cNvSpPr/>
          <p:nvPr/>
        </p:nvSpPr>
        <p:spPr>
          <a:xfrm>
            <a:off x="1600200" y="4453128"/>
            <a:ext cx="4069080" cy="1280160"/>
          </a:xfrm>
          <a:prstGeom prst="rect">
            <a:avLst/>
          </a:prstGeom>
          <a:noFill/>
          <a:ln/>
        </p:spPr>
        <p:txBody>
          <a:bodyPr wrap="square" lIns="0" tIns="0" rIns="0" bIns="0" rtlCol="0" anchor="ctr"/>
          <a:lstStyle/>
          <a:p>
            <a:pPr indent="0" marL="0">
              <a:lnSpc>
                <a:spcPct val="112000"/>
              </a:lnSpc>
              <a:buNone/>
            </a:pPr>
            <a:r>
              <a:rPr lang="en-US" sz="1100" dirty="0">
                <a:solidFill>
                  <a:srgbClr val="5B6B8C"/>
                </a:solidFill>
                <a:latin typeface="Calibri" pitchFamily="34" charset="0"/>
                <a:ea typeface="Calibri" pitchFamily="34" charset="-122"/>
                <a:cs typeface="Calibri" pitchFamily="34" charset="-120"/>
              </a:rPr>
              <a:t>This new architecture lets models understand context across long passages of text, becoming the foundation for nearly every modern language model, including GPT.</a:t>
            </a:r>
            <a:endParaRPr lang="en-US" sz="1100" dirty="0"/>
          </a:p>
        </p:txBody>
      </p:sp>
      <p:sp>
        <p:nvSpPr>
          <p:cNvPr id="19" name="Shape 14"/>
          <p:cNvSpPr/>
          <p:nvPr/>
        </p:nvSpPr>
        <p:spPr>
          <a:xfrm>
            <a:off x="6263640" y="3886200"/>
            <a:ext cx="5257800" cy="1965960"/>
          </a:xfrm>
          <a:prstGeom prst="roundRect">
            <a:avLst>
              <a:gd name="adj" fmla="val 3721"/>
            </a:avLst>
          </a:prstGeom>
          <a:solidFill>
            <a:srgbClr val="F3F6FA"/>
          </a:solidFill>
          <a:ln/>
          <a:effectLst>
            <a:outerShdw sx="100000" sy="100000" kx="0" ky="0" algn="bl" rotWithShape="0" blurRad="127000" dist="38100" dir="2700000">
              <a:srgbClr val="0B1F3A">
                <a:alpha val="12000"/>
              </a:srgbClr>
            </a:outerShdw>
          </a:effectLst>
        </p:spPr>
      </p:sp>
      <p:sp>
        <p:nvSpPr>
          <p:cNvPr id="20" name="Shape 15"/>
          <p:cNvSpPr/>
          <p:nvPr/>
        </p:nvSpPr>
        <p:spPr>
          <a:xfrm>
            <a:off x="6492240" y="4114800"/>
            <a:ext cx="566928" cy="566928"/>
          </a:xfrm>
          <a:prstGeom prst="ellipse">
            <a:avLst/>
          </a:prstGeom>
          <a:solidFill>
            <a:srgbClr val="FFFFFF"/>
          </a:solidFill>
          <a:ln/>
        </p:spPr>
      </p:sp>
      <p:pic>
        <p:nvPicPr>
          <p:cNvPr id="21" name="Image 3" descr="preencoded.png">    </p:cNvPr>
          <p:cNvPicPr>
            <a:picLocks noChangeAspect="1"/>
          </p:cNvPicPr>
          <p:nvPr/>
        </p:nvPicPr>
        <p:blipFill>
          <a:blip r:embed="rId4"/>
          <a:stretch>
            <a:fillRect/>
          </a:stretch>
        </p:blipFill>
        <p:spPr>
          <a:xfrm>
            <a:off x="6565941" y="4188501"/>
            <a:ext cx="419527" cy="419527"/>
          </a:xfrm>
          <a:prstGeom prst="rect">
            <a:avLst/>
          </a:prstGeom>
        </p:spPr>
      </p:pic>
      <p:sp>
        <p:nvSpPr>
          <p:cNvPr id="22" name="Text 16"/>
          <p:cNvSpPr/>
          <p:nvPr/>
        </p:nvSpPr>
        <p:spPr>
          <a:xfrm>
            <a:off x="7223760" y="4069080"/>
            <a:ext cx="4069080" cy="365760"/>
          </a:xfrm>
          <a:prstGeom prst="rect">
            <a:avLst/>
          </a:prstGeom>
          <a:noFill/>
          <a:ln/>
        </p:spPr>
        <p:txBody>
          <a:bodyPr wrap="square" lIns="0" tIns="0" rIns="0" bIns="0" rtlCol="0" anchor="ctr"/>
          <a:lstStyle/>
          <a:p>
            <a:pPr indent="0" marL="0">
              <a:buNone/>
            </a:pPr>
            <a:r>
              <a:rPr lang="en-US" sz="1450" b="1" dirty="0">
                <a:solidFill>
                  <a:srgbClr val="16213E"/>
                </a:solidFill>
                <a:latin typeface="Calibri" pitchFamily="34" charset="0"/>
                <a:ea typeface="Calibri" pitchFamily="34" charset="-122"/>
                <a:cs typeface="Calibri" pitchFamily="34" charset="-120"/>
              </a:rPr>
              <a:t>OpenAI is Founded (2015)</a:t>
            </a:r>
            <a:endParaRPr lang="en-US" sz="1450" dirty="0"/>
          </a:p>
        </p:txBody>
      </p:sp>
      <p:sp>
        <p:nvSpPr>
          <p:cNvPr id="23" name="Text 17"/>
          <p:cNvSpPr/>
          <p:nvPr/>
        </p:nvSpPr>
        <p:spPr>
          <a:xfrm>
            <a:off x="7223760" y="4453128"/>
            <a:ext cx="4069080" cy="1280160"/>
          </a:xfrm>
          <a:prstGeom prst="rect">
            <a:avLst/>
          </a:prstGeom>
          <a:noFill/>
          <a:ln/>
        </p:spPr>
        <p:txBody>
          <a:bodyPr wrap="square" lIns="0" tIns="0" rIns="0" bIns="0" rtlCol="0" anchor="ctr"/>
          <a:lstStyle/>
          <a:p>
            <a:pPr indent="0" marL="0">
              <a:lnSpc>
                <a:spcPct val="112000"/>
              </a:lnSpc>
              <a:buNone/>
            </a:pPr>
            <a:r>
              <a:rPr lang="en-US" sz="1100" dirty="0">
                <a:solidFill>
                  <a:srgbClr val="5B6B8C"/>
                </a:solidFill>
                <a:latin typeface="Calibri" pitchFamily="34" charset="0"/>
                <a:ea typeface="Calibri" pitchFamily="34" charset="-122"/>
                <a:cs typeface="Calibri" pitchFamily="34" charset="-120"/>
              </a:rPr>
              <a:t>Concerned about Google's AI monopoly, Elon Musk, Sam Altman, and others start OpenAI as a nonprofit dedicated to safe, open AGI research.</a:t>
            </a:r>
            <a:endParaRPr lang="en-US" sz="1100" dirty="0"/>
          </a:p>
        </p:txBody>
      </p:sp>
      <p:sp>
        <p:nvSpPr>
          <p:cNvPr id="24" name="Text 18"/>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A8B3C7"/>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502920"/>
            <a:ext cx="731520" cy="731520"/>
          </a:xfrm>
          <a:prstGeom prst="ellipse">
            <a:avLst/>
          </a:prstGeom>
          <a:solidFill>
            <a:srgbClr val="13294B"/>
          </a:solidFill>
          <a:ln/>
        </p:spPr>
      </p:sp>
      <p:pic>
        <p:nvPicPr>
          <p:cNvPr id="3" name="Image 0" descr="preencoded.png">    </p:cNvPr>
          <p:cNvPicPr>
            <a:picLocks noChangeAspect="1"/>
          </p:cNvPicPr>
          <p:nvPr/>
        </p:nvPicPr>
        <p:blipFill>
          <a:blip r:embed="rId1"/>
          <a:stretch>
            <a:fillRect/>
          </a:stretch>
        </p:blipFill>
        <p:spPr>
          <a:xfrm>
            <a:off x="735178" y="598018"/>
            <a:ext cx="541325" cy="541325"/>
          </a:xfrm>
          <a:prstGeom prst="rect">
            <a:avLst/>
          </a:prstGeom>
        </p:spPr>
      </p:pic>
      <p:sp>
        <p:nvSpPr>
          <p:cNvPr id="4" name="Text 1"/>
          <p:cNvSpPr/>
          <p:nvPr/>
        </p:nvSpPr>
        <p:spPr>
          <a:xfrm>
            <a:off x="1554480" y="594360"/>
            <a:ext cx="5486400" cy="320040"/>
          </a:xfrm>
          <a:prstGeom prst="rect">
            <a:avLst/>
          </a:prstGeom>
          <a:noFill/>
          <a:ln/>
        </p:spPr>
        <p:txBody>
          <a:bodyPr wrap="square" lIns="0" tIns="0" rIns="0" bIns="0" rtlCol="0" anchor="ctr"/>
          <a:lstStyle/>
          <a:p>
            <a:pPr indent="0" marL="0">
              <a:buNone/>
            </a:pPr>
            <a:r>
              <a:rPr lang="en-US" sz="1300" b="1" spc="200" kern="0" dirty="0">
                <a:solidFill>
                  <a:srgbClr val="0FB5C4"/>
                </a:solidFill>
                <a:latin typeface="Calibri" pitchFamily="34" charset="0"/>
                <a:ea typeface="Calibri" pitchFamily="34" charset="-122"/>
                <a:cs typeface="Calibri" pitchFamily="34" charset="-120"/>
              </a:rPr>
              <a:t>2020 – PRESENT</a:t>
            </a:r>
            <a:endParaRPr lang="en-US" sz="1300" dirty="0"/>
          </a:p>
        </p:txBody>
      </p:sp>
      <p:sp>
        <p:nvSpPr>
          <p:cNvPr id="5" name="Text 2"/>
          <p:cNvSpPr/>
          <p:nvPr/>
        </p:nvSpPr>
        <p:spPr>
          <a:xfrm>
            <a:off x="1554480" y="91440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Generative AI Boom</a:t>
            </a:r>
            <a:endParaRPr lang="en-US" sz="3200" dirty="0"/>
          </a:p>
        </p:txBody>
      </p:sp>
      <p:sp>
        <p:nvSpPr>
          <p:cNvPr id="6" name="Shape 3"/>
          <p:cNvSpPr/>
          <p:nvPr/>
        </p:nvSpPr>
        <p:spPr>
          <a:xfrm>
            <a:off x="640080" y="1783080"/>
            <a:ext cx="3520440" cy="1920240"/>
          </a:xfrm>
          <a:prstGeom prst="roundRect">
            <a:avLst>
              <a:gd name="adj" fmla="val 4762"/>
            </a:avLst>
          </a:prstGeom>
          <a:solidFill>
            <a:srgbClr val="13294B"/>
          </a:solidFill>
          <a:ln/>
        </p:spPr>
      </p:sp>
      <p:sp>
        <p:nvSpPr>
          <p:cNvPr id="7" name="Text 4"/>
          <p:cNvSpPr/>
          <p:nvPr/>
        </p:nvSpPr>
        <p:spPr>
          <a:xfrm>
            <a:off x="868680" y="1920240"/>
            <a:ext cx="3063240" cy="640080"/>
          </a:xfrm>
          <a:prstGeom prst="rect">
            <a:avLst/>
          </a:prstGeom>
          <a:noFill/>
          <a:ln/>
        </p:spPr>
        <p:txBody>
          <a:bodyPr wrap="square" lIns="0" tIns="0" rIns="0" bIns="0" rtlCol="0" anchor="ctr"/>
          <a:lstStyle/>
          <a:p>
            <a:pPr indent="0" marL="0">
              <a:buNone/>
            </a:pPr>
            <a:r>
              <a:rPr lang="en-US" sz="3200" b="1" dirty="0">
                <a:solidFill>
                  <a:srgbClr val="0FB5C4"/>
                </a:solidFill>
                <a:latin typeface="Cambria" pitchFamily="34" charset="0"/>
                <a:ea typeface="Cambria" pitchFamily="34" charset="-122"/>
                <a:cs typeface="Cambria" pitchFamily="34" charset="-120"/>
              </a:rPr>
              <a:t>$10B</a:t>
            </a:r>
            <a:endParaRPr lang="en-US" sz="3200" dirty="0"/>
          </a:p>
        </p:txBody>
      </p:sp>
      <p:sp>
        <p:nvSpPr>
          <p:cNvPr id="8" name="Text 5"/>
          <p:cNvSpPr/>
          <p:nvPr/>
        </p:nvSpPr>
        <p:spPr>
          <a:xfrm>
            <a:off x="868680" y="2560320"/>
            <a:ext cx="3063240" cy="1051560"/>
          </a:xfrm>
          <a:prstGeom prst="rect">
            <a:avLst/>
          </a:prstGeom>
          <a:noFill/>
          <a:ln/>
        </p:spPr>
        <p:txBody>
          <a:bodyPr wrap="square" lIns="0" tIns="0" rIns="0" bIns="0" rtlCol="0" anchor="ctr"/>
          <a:lstStyle/>
          <a:p>
            <a:pPr indent="0" marL="0">
              <a:lnSpc>
                <a:spcPct val="115000"/>
              </a:lnSpc>
              <a:buNone/>
            </a:pPr>
            <a:r>
              <a:rPr lang="en-US" sz="1100" dirty="0">
                <a:solidFill>
                  <a:srgbClr val="CFE8F3"/>
                </a:solidFill>
                <a:latin typeface="Calibri" pitchFamily="34" charset="0"/>
                <a:ea typeface="Calibri" pitchFamily="34" charset="-122"/>
                <a:cs typeface="Calibri" pitchFamily="34" charset="-120"/>
              </a:rPr>
              <a:t>Microsoft's investment in OpenAI, announced in 2020, fuels the leap from GPT to ChatGPT.</a:t>
            </a:r>
            <a:endParaRPr lang="en-US" sz="1100" dirty="0"/>
          </a:p>
        </p:txBody>
      </p:sp>
      <p:sp>
        <p:nvSpPr>
          <p:cNvPr id="9" name="Shape 6"/>
          <p:cNvSpPr/>
          <p:nvPr/>
        </p:nvSpPr>
        <p:spPr>
          <a:xfrm>
            <a:off x="4343400" y="1783080"/>
            <a:ext cx="3520440" cy="1920240"/>
          </a:xfrm>
          <a:prstGeom prst="roundRect">
            <a:avLst>
              <a:gd name="adj" fmla="val 4762"/>
            </a:avLst>
          </a:prstGeom>
          <a:solidFill>
            <a:srgbClr val="13294B"/>
          </a:solidFill>
          <a:ln/>
        </p:spPr>
      </p:sp>
      <p:sp>
        <p:nvSpPr>
          <p:cNvPr id="10" name="Text 7"/>
          <p:cNvSpPr/>
          <p:nvPr/>
        </p:nvSpPr>
        <p:spPr>
          <a:xfrm>
            <a:off x="4572000" y="1920240"/>
            <a:ext cx="3063240" cy="640080"/>
          </a:xfrm>
          <a:prstGeom prst="rect">
            <a:avLst/>
          </a:prstGeom>
          <a:noFill/>
          <a:ln/>
        </p:spPr>
        <p:txBody>
          <a:bodyPr wrap="square" lIns="0" tIns="0" rIns="0" bIns="0" rtlCol="0" anchor="ctr"/>
          <a:lstStyle/>
          <a:p>
            <a:pPr indent="0" marL="0">
              <a:buNone/>
            </a:pPr>
            <a:r>
              <a:rPr lang="en-US" sz="3200" b="1" dirty="0">
                <a:solidFill>
                  <a:srgbClr val="0FB5C4"/>
                </a:solidFill>
                <a:latin typeface="Cambria" pitchFamily="34" charset="0"/>
                <a:ea typeface="Cambria" pitchFamily="34" charset="-122"/>
                <a:cs typeface="Cambria" pitchFamily="34" charset="-120"/>
              </a:rPr>
              <a:t>100M</a:t>
            </a:r>
            <a:endParaRPr lang="en-US" sz="3200" dirty="0"/>
          </a:p>
        </p:txBody>
      </p:sp>
      <p:sp>
        <p:nvSpPr>
          <p:cNvPr id="11" name="Text 8"/>
          <p:cNvSpPr/>
          <p:nvPr/>
        </p:nvSpPr>
        <p:spPr>
          <a:xfrm>
            <a:off x="4572000" y="2560320"/>
            <a:ext cx="3063240" cy="1051560"/>
          </a:xfrm>
          <a:prstGeom prst="rect">
            <a:avLst/>
          </a:prstGeom>
          <a:noFill/>
          <a:ln/>
        </p:spPr>
        <p:txBody>
          <a:bodyPr wrap="square" lIns="0" tIns="0" rIns="0" bIns="0" rtlCol="0" anchor="ctr"/>
          <a:lstStyle/>
          <a:p>
            <a:pPr indent="0" marL="0">
              <a:lnSpc>
                <a:spcPct val="115000"/>
              </a:lnSpc>
              <a:buNone/>
            </a:pPr>
            <a:r>
              <a:rPr lang="en-US" sz="1100" dirty="0">
                <a:solidFill>
                  <a:srgbClr val="CFE8F3"/>
                </a:solidFill>
                <a:latin typeface="Calibri" pitchFamily="34" charset="0"/>
                <a:ea typeface="Calibri" pitchFamily="34" charset="-122"/>
                <a:cs typeface="Calibri" pitchFamily="34" charset="-120"/>
              </a:rPr>
              <a:t>users ChatGPT reached within two months of its November 2022 launch — the fastest-growing app in history.</a:t>
            </a:r>
            <a:endParaRPr lang="en-US" sz="1100" dirty="0"/>
          </a:p>
        </p:txBody>
      </p:sp>
      <p:sp>
        <p:nvSpPr>
          <p:cNvPr id="12" name="Shape 9"/>
          <p:cNvSpPr/>
          <p:nvPr/>
        </p:nvSpPr>
        <p:spPr>
          <a:xfrm>
            <a:off x="8046720" y="1783080"/>
            <a:ext cx="3520440" cy="1920240"/>
          </a:xfrm>
          <a:prstGeom prst="roundRect">
            <a:avLst>
              <a:gd name="adj" fmla="val 4762"/>
            </a:avLst>
          </a:prstGeom>
          <a:solidFill>
            <a:srgbClr val="13294B"/>
          </a:solidFill>
          <a:ln/>
        </p:spPr>
      </p:sp>
      <p:sp>
        <p:nvSpPr>
          <p:cNvPr id="13" name="Text 10"/>
          <p:cNvSpPr/>
          <p:nvPr/>
        </p:nvSpPr>
        <p:spPr>
          <a:xfrm>
            <a:off x="8275320" y="1920240"/>
            <a:ext cx="3063240" cy="640080"/>
          </a:xfrm>
          <a:prstGeom prst="rect">
            <a:avLst/>
          </a:prstGeom>
          <a:noFill/>
          <a:ln/>
        </p:spPr>
        <p:txBody>
          <a:bodyPr wrap="square" lIns="0" tIns="0" rIns="0" bIns="0" rtlCol="0" anchor="ctr"/>
          <a:lstStyle/>
          <a:p>
            <a:pPr indent="0" marL="0">
              <a:buNone/>
            </a:pPr>
            <a:r>
              <a:rPr lang="en-US" sz="3200" b="1" dirty="0">
                <a:solidFill>
                  <a:srgbClr val="0FB5C4"/>
                </a:solidFill>
                <a:latin typeface="Cambria" pitchFamily="34" charset="0"/>
                <a:ea typeface="Cambria" pitchFamily="34" charset="-122"/>
                <a:cs typeface="Cambria" pitchFamily="34" charset="-120"/>
              </a:rPr>
              <a:t>$40B+</a:t>
            </a:r>
            <a:endParaRPr lang="en-US" sz="3200" dirty="0"/>
          </a:p>
        </p:txBody>
      </p:sp>
      <p:sp>
        <p:nvSpPr>
          <p:cNvPr id="14" name="Text 11"/>
          <p:cNvSpPr/>
          <p:nvPr/>
        </p:nvSpPr>
        <p:spPr>
          <a:xfrm>
            <a:off x="8275320" y="2560320"/>
            <a:ext cx="3063240" cy="1051560"/>
          </a:xfrm>
          <a:prstGeom prst="rect">
            <a:avLst/>
          </a:prstGeom>
          <a:noFill/>
          <a:ln/>
        </p:spPr>
        <p:txBody>
          <a:bodyPr wrap="square" lIns="0" tIns="0" rIns="0" bIns="0" rtlCol="0" anchor="ctr"/>
          <a:lstStyle/>
          <a:p>
            <a:pPr indent="0" marL="0">
              <a:lnSpc>
                <a:spcPct val="115000"/>
              </a:lnSpc>
              <a:buNone/>
            </a:pPr>
            <a:r>
              <a:rPr lang="en-US" sz="1100" dirty="0">
                <a:solidFill>
                  <a:srgbClr val="CFE8F3"/>
                </a:solidFill>
                <a:latin typeface="Calibri" pitchFamily="34" charset="0"/>
                <a:ea typeface="Calibri" pitchFamily="34" charset="-122"/>
                <a:cs typeface="Calibri" pitchFamily="34" charset="-120"/>
              </a:rPr>
              <a:t>invested in AI startups annually as of the mid-2020s, spanning language, image, audio, and robotics.</a:t>
            </a:r>
            <a:endParaRPr lang="en-US" sz="1100" dirty="0"/>
          </a:p>
        </p:txBody>
      </p:sp>
      <p:sp>
        <p:nvSpPr>
          <p:cNvPr id="15" name="Text 12"/>
          <p:cNvSpPr/>
          <p:nvPr/>
        </p:nvSpPr>
        <p:spPr>
          <a:xfrm>
            <a:off x="640080" y="3977640"/>
            <a:ext cx="4572000" cy="320040"/>
          </a:xfrm>
          <a:prstGeom prst="rect">
            <a:avLst/>
          </a:prstGeom>
          <a:noFill/>
          <a:ln/>
        </p:spPr>
        <p:txBody>
          <a:bodyPr wrap="square" lIns="0" tIns="0" rIns="0" bIns="0" rtlCol="0" anchor="ctr"/>
          <a:lstStyle/>
          <a:p>
            <a:pPr indent="0" marL="0">
              <a:buNone/>
            </a:pPr>
            <a:r>
              <a:rPr lang="en-US" sz="1300" b="1" dirty="0">
                <a:solidFill>
                  <a:srgbClr val="FF7A30"/>
                </a:solidFill>
                <a:latin typeface="Calibri" pitchFamily="34" charset="0"/>
                <a:ea typeface="Calibri" pitchFamily="34" charset="-122"/>
                <a:cs typeface="Calibri" pitchFamily="34" charset="-120"/>
              </a:rPr>
              <a:t>Also arriving in this wave:</a:t>
            </a:r>
            <a:endParaRPr lang="en-US" sz="1300" dirty="0"/>
          </a:p>
        </p:txBody>
      </p:sp>
      <p:sp>
        <p:nvSpPr>
          <p:cNvPr id="16" name="Shape 13"/>
          <p:cNvSpPr/>
          <p:nvPr/>
        </p:nvSpPr>
        <p:spPr>
          <a:xfrm>
            <a:off x="640080" y="4443984"/>
            <a:ext cx="91440" cy="91440"/>
          </a:xfrm>
          <a:prstGeom prst="ellipse">
            <a:avLst/>
          </a:prstGeom>
          <a:solidFill>
            <a:srgbClr val="0FB5C4"/>
          </a:solidFill>
          <a:ln/>
        </p:spPr>
      </p:sp>
      <p:sp>
        <p:nvSpPr>
          <p:cNvPr id="17" name="Text 14"/>
          <p:cNvSpPr/>
          <p:nvPr/>
        </p:nvSpPr>
        <p:spPr>
          <a:xfrm>
            <a:off x="868680" y="4315968"/>
            <a:ext cx="10241280" cy="365760"/>
          </a:xfrm>
          <a:prstGeom prst="rect">
            <a:avLst/>
          </a:prstGeom>
          <a:noFill/>
          <a:ln/>
        </p:spPr>
        <p:txBody>
          <a:bodyPr wrap="square" lIns="0" tIns="0" rIns="0" bIns="0" rtlCol="0" anchor="ctr"/>
          <a:lstStyle/>
          <a:p>
            <a:pPr indent="0" marL="0">
              <a:buNone/>
            </a:pPr>
            <a:r>
              <a:rPr lang="en-US" sz="1250" dirty="0">
                <a:solidFill>
                  <a:srgbClr val="CFE8F3"/>
                </a:solidFill>
                <a:latin typeface="Calibri" pitchFamily="34" charset="0"/>
                <a:ea typeface="Calibri" pitchFamily="34" charset="-122"/>
                <a:cs typeface="Calibri" pitchFamily="34" charset="-120"/>
              </a:rPr>
              <a:t>OpenAI's DALL-E and Midjourney bring text-to-image generation to the mainstream.</a:t>
            </a:r>
            <a:endParaRPr lang="en-US" sz="1250" dirty="0"/>
          </a:p>
        </p:txBody>
      </p:sp>
      <p:sp>
        <p:nvSpPr>
          <p:cNvPr id="18" name="Shape 15"/>
          <p:cNvSpPr/>
          <p:nvPr/>
        </p:nvSpPr>
        <p:spPr>
          <a:xfrm>
            <a:off x="640080" y="4946904"/>
            <a:ext cx="91440" cy="91440"/>
          </a:xfrm>
          <a:prstGeom prst="ellipse">
            <a:avLst/>
          </a:prstGeom>
          <a:solidFill>
            <a:srgbClr val="0FB5C4"/>
          </a:solidFill>
          <a:ln/>
        </p:spPr>
      </p:sp>
      <p:sp>
        <p:nvSpPr>
          <p:cNvPr id="19" name="Text 16"/>
          <p:cNvSpPr/>
          <p:nvPr/>
        </p:nvSpPr>
        <p:spPr>
          <a:xfrm>
            <a:off x="868680" y="4818888"/>
            <a:ext cx="10241280" cy="365760"/>
          </a:xfrm>
          <a:prstGeom prst="rect">
            <a:avLst/>
          </a:prstGeom>
          <a:noFill/>
          <a:ln/>
        </p:spPr>
        <p:txBody>
          <a:bodyPr wrap="square" lIns="0" tIns="0" rIns="0" bIns="0" rtlCol="0" anchor="ctr"/>
          <a:lstStyle/>
          <a:p>
            <a:pPr indent="0" marL="0">
              <a:buNone/>
            </a:pPr>
            <a:r>
              <a:rPr lang="en-US" sz="1250" dirty="0">
                <a:solidFill>
                  <a:srgbClr val="CFE8F3"/>
                </a:solidFill>
                <a:latin typeface="Calibri" pitchFamily="34" charset="0"/>
                <a:ea typeface="Calibri" pitchFamily="34" charset="-122"/>
                <a:cs typeface="Calibri" pitchFamily="34" charset="-120"/>
              </a:rPr>
              <a:t>ElevenLabs and Stability AI launch breakthrough tools for AI audio and open image generation.</a:t>
            </a:r>
            <a:endParaRPr lang="en-US" sz="1250" dirty="0"/>
          </a:p>
        </p:txBody>
      </p:sp>
      <p:sp>
        <p:nvSpPr>
          <p:cNvPr id="20" name="Shape 17"/>
          <p:cNvSpPr/>
          <p:nvPr/>
        </p:nvSpPr>
        <p:spPr>
          <a:xfrm>
            <a:off x="640080" y="5449824"/>
            <a:ext cx="91440" cy="91440"/>
          </a:xfrm>
          <a:prstGeom prst="ellipse">
            <a:avLst/>
          </a:prstGeom>
          <a:solidFill>
            <a:srgbClr val="0FB5C4"/>
          </a:solidFill>
          <a:ln/>
        </p:spPr>
      </p:sp>
      <p:sp>
        <p:nvSpPr>
          <p:cNvPr id="21" name="Text 18"/>
          <p:cNvSpPr/>
          <p:nvPr/>
        </p:nvSpPr>
        <p:spPr>
          <a:xfrm>
            <a:off x="868680" y="5321808"/>
            <a:ext cx="10241280" cy="365760"/>
          </a:xfrm>
          <a:prstGeom prst="rect">
            <a:avLst/>
          </a:prstGeom>
          <a:noFill/>
          <a:ln/>
        </p:spPr>
        <p:txBody>
          <a:bodyPr wrap="square" lIns="0" tIns="0" rIns="0" bIns="0" rtlCol="0" anchor="ctr"/>
          <a:lstStyle/>
          <a:p>
            <a:pPr indent="0" marL="0">
              <a:buNone/>
            </a:pPr>
            <a:r>
              <a:rPr lang="en-US" sz="1250" dirty="0">
                <a:solidFill>
                  <a:srgbClr val="CFE8F3"/>
                </a:solidFill>
                <a:latin typeface="Calibri" pitchFamily="34" charset="0"/>
                <a:ea typeface="Calibri" pitchFamily="34" charset="-122"/>
                <a:cs typeface="Calibri" pitchFamily="34" charset="-120"/>
              </a:rPr>
              <a:t>Nvidia and Microsoft become two of the world's three most valuable companies, largely on AI bets.</a:t>
            </a:r>
            <a:endParaRPr lang="en-US" sz="1250" dirty="0"/>
          </a:p>
        </p:txBody>
      </p:sp>
      <p:sp>
        <p:nvSpPr>
          <p:cNvPr id="22" name="Text 19"/>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6E85AD"/>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lIns="0" tIns="0" rIns="0" bIns="0" rtlCol="0" anchor="ctr"/>
          <a:lstStyle/>
          <a:p>
            <a:pPr indent="0" marL="0">
              <a:buNone/>
            </a:pPr>
            <a:r>
              <a:rPr lang="en-US" sz="1300" b="1" spc="200" kern="0" dirty="0">
                <a:solidFill>
                  <a:srgbClr val="0FB5C4"/>
                </a:solidFill>
                <a:latin typeface="Calibri" pitchFamily="34" charset="0"/>
                <a:ea typeface="Calibri" pitchFamily="34" charset="-122"/>
                <a:cs typeface="Calibri" pitchFamily="34" charset="-120"/>
              </a:rPr>
              <a:t>THE MAJOR PLAYERS</a:t>
            </a:r>
            <a:endParaRPr lang="en-US" sz="1300" dirty="0"/>
          </a:p>
        </p:txBody>
      </p:sp>
      <p:sp>
        <p:nvSpPr>
          <p:cNvPr id="3" name="Text 1"/>
          <p:cNvSpPr/>
          <p:nvPr/>
        </p:nvSpPr>
        <p:spPr>
          <a:xfrm>
            <a:off x="640080" y="777240"/>
            <a:ext cx="10058400" cy="64008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Figures &amp; Companies Who Shaped AI</a:t>
            </a:r>
            <a:endParaRPr lang="en-US" sz="3000" dirty="0"/>
          </a:p>
        </p:txBody>
      </p:sp>
      <p:sp>
        <p:nvSpPr>
          <p:cNvPr id="4" name="Shape 2"/>
          <p:cNvSpPr/>
          <p:nvPr/>
        </p:nvSpPr>
        <p:spPr>
          <a:xfrm>
            <a:off x="640080" y="1691640"/>
            <a:ext cx="3520440" cy="1965960"/>
          </a:xfrm>
          <a:prstGeom prst="roundRect">
            <a:avLst>
              <a:gd name="adj" fmla="val 3721"/>
            </a:avLst>
          </a:prstGeom>
          <a:solidFill>
            <a:srgbClr val="F3F6FA"/>
          </a:solidFill>
          <a:ln/>
          <a:effectLst>
            <a:outerShdw sx="100000" sy="100000" kx="0" ky="0" algn="bl" rotWithShape="0" blurRad="127000" dist="38100" dir="2700000">
              <a:srgbClr val="0B1F3A">
                <a:alpha val="12000"/>
              </a:srgbClr>
            </a:outerShdw>
          </a:effectLst>
        </p:spPr>
      </p:sp>
      <p:sp>
        <p:nvSpPr>
          <p:cNvPr id="5" name="Shape 3"/>
          <p:cNvSpPr/>
          <p:nvPr/>
        </p:nvSpPr>
        <p:spPr>
          <a:xfrm>
            <a:off x="868680" y="1892808"/>
            <a:ext cx="502920" cy="50292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934060" y="1958188"/>
            <a:ext cx="372161" cy="372161"/>
          </a:xfrm>
          <a:prstGeom prst="rect">
            <a:avLst/>
          </a:prstGeom>
        </p:spPr>
      </p:pic>
      <p:sp>
        <p:nvSpPr>
          <p:cNvPr id="7" name="Text 4"/>
          <p:cNvSpPr/>
          <p:nvPr/>
        </p:nvSpPr>
        <p:spPr>
          <a:xfrm>
            <a:off x="868680" y="2514600"/>
            <a:ext cx="3063240" cy="365760"/>
          </a:xfrm>
          <a:prstGeom prst="rect">
            <a:avLst/>
          </a:prstGeom>
          <a:noFill/>
          <a:ln/>
        </p:spPr>
        <p:txBody>
          <a:bodyPr wrap="square" lIns="0" tIns="0" rIns="0" bIns="0"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Alan Turing</a:t>
            </a:r>
            <a:endParaRPr lang="en-US" sz="1500" dirty="0"/>
          </a:p>
        </p:txBody>
      </p:sp>
      <p:sp>
        <p:nvSpPr>
          <p:cNvPr id="8" name="Text 5"/>
          <p:cNvSpPr/>
          <p:nvPr/>
        </p:nvSpPr>
        <p:spPr>
          <a:xfrm>
            <a:off x="868680" y="2880360"/>
            <a:ext cx="3063240" cy="685800"/>
          </a:xfrm>
          <a:prstGeom prst="rect">
            <a:avLst/>
          </a:prstGeom>
          <a:noFill/>
          <a:ln/>
        </p:spPr>
        <p:txBody>
          <a:bodyPr wrap="square" lIns="0" tIns="0" rIns="0" bIns="0" rtlCol="0" anchor="ctr"/>
          <a:lstStyle/>
          <a:p>
            <a:pPr indent="0" marL="0">
              <a:lnSpc>
                <a:spcPct val="110000"/>
              </a:lnSpc>
              <a:buNone/>
            </a:pPr>
            <a:r>
              <a:rPr lang="en-US" sz="1050" dirty="0">
                <a:solidFill>
                  <a:srgbClr val="5B6B8C"/>
                </a:solidFill>
                <a:latin typeface="Calibri" pitchFamily="34" charset="0"/>
                <a:ea typeface="Calibri" pitchFamily="34" charset="-122"/>
                <a:cs typeface="Calibri" pitchFamily="34" charset="-120"/>
              </a:rPr>
              <a:t>Posed the founding question of machine intelligence (1950)</a:t>
            </a:r>
            <a:endParaRPr lang="en-US" sz="1050" dirty="0"/>
          </a:p>
        </p:txBody>
      </p:sp>
      <p:sp>
        <p:nvSpPr>
          <p:cNvPr id="9" name="Shape 6"/>
          <p:cNvSpPr/>
          <p:nvPr/>
        </p:nvSpPr>
        <p:spPr>
          <a:xfrm>
            <a:off x="4343400" y="1691640"/>
            <a:ext cx="3520440" cy="1965960"/>
          </a:xfrm>
          <a:prstGeom prst="roundRect">
            <a:avLst>
              <a:gd name="adj" fmla="val 3721"/>
            </a:avLst>
          </a:prstGeom>
          <a:solidFill>
            <a:srgbClr val="F3F6FA"/>
          </a:solidFill>
          <a:ln/>
          <a:effectLst>
            <a:outerShdw sx="100000" sy="100000" kx="0" ky="0" algn="bl" rotWithShape="0" blurRad="127000" dist="38100" dir="2700000">
              <a:srgbClr val="0B1F3A">
                <a:alpha val="12000"/>
              </a:srgbClr>
            </a:outerShdw>
          </a:effectLst>
        </p:spPr>
      </p:sp>
      <p:sp>
        <p:nvSpPr>
          <p:cNvPr id="10" name="Shape 7"/>
          <p:cNvSpPr/>
          <p:nvPr/>
        </p:nvSpPr>
        <p:spPr>
          <a:xfrm>
            <a:off x="4572000" y="1892808"/>
            <a:ext cx="502920" cy="502920"/>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4637380" y="1958188"/>
            <a:ext cx="372161" cy="372161"/>
          </a:xfrm>
          <a:prstGeom prst="rect">
            <a:avLst/>
          </a:prstGeom>
        </p:spPr>
      </p:pic>
      <p:sp>
        <p:nvSpPr>
          <p:cNvPr id="12" name="Text 8"/>
          <p:cNvSpPr/>
          <p:nvPr/>
        </p:nvSpPr>
        <p:spPr>
          <a:xfrm>
            <a:off x="4572000" y="2514600"/>
            <a:ext cx="3063240" cy="365760"/>
          </a:xfrm>
          <a:prstGeom prst="rect">
            <a:avLst/>
          </a:prstGeom>
          <a:noFill/>
          <a:ln/>
        </p:spPr>
        <p:txBody>
          <a:bodyPr wrap="square" lIns="0" tIns="0" rIns="0" bIns="0"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Marvin Minsky</a:t>
            </a:r>
            <a:endParaRPr lang="en-US" sz="1500" dirty="0"/>
          </a:p>
        </p:txBody>
      </p:sp>
      <p:sp>
        <p:nvSpPr>
          <p:cNvPr id="13" name="Text 9"/>
          <p:cNvSpPr/>
          <p:nvPr/>
        </p:nvSpPr>
        <p:spPr>
          <a:xfrm>
            <a:off x="4572000" y="2880360"/>
            <a:ext cx="3063240" cy="685800"/>
          </a:xfrm>
          <a:prstGeom prst="rect">
            <a:avLst/>
          </a:prstGeom>
          <a:noFill/>
          <a:ln/>
        </p:spPr>
        <p:txBody>
          <a:bodyPr wrap="square" lIns="0" tIns="0" rIns="0" bIns="0" rtlCol="0" anchor="ctr"/>
          <a:lstStyle/>
          <a:p>
            <a:pPr indent="0" marL="0">
              <a:lnSpc>
                <a:spcPct val="110000"/>
              </a:lnSpc>
              <a:buNone/>
            </a:pPr>
            <a:r>
              <a:rPr lang="en-US" sz="1050" dirty="0">
                <a:solidFill>
                  <a:srgbClr val="5B6B8C"/>
                </a:solidFill>
                <a:latin typeface="Calibri" pitchFamily="34" charset="0"/>
                <a:ea typeface="Calibri" pitchFamily="34" charset="-122"/>
                <a:cs typeface="Calibri" pitchFamily="34" charset="-120"/>
              </a:rPr>
              <a:t>Built the first working neural network (1954)</a:t>
            </a:r>
            <a:endParaRPr lang="en-US" sz="1050" dirty="0"/>
          </a:p>
        </p:txBody>
      </p:sp>
      <p:sp>
        <p:nvSpPr>
          <p:cNvPr id="14" name="Shape 10"/>
          <p:cNvSpPr/>
          <p:nvPr/>
        </p:nvSpPr>
        <p:spPr>
          <a:xfrm>
            <a:off x="8046720" y="1691640"/>
            <a:ext cx="3520440" cy="1965960"/>
          </a:xfrm>
          <a:prstGeom prst="roundRect">
            <a:avLst>
              <a:gd name="adj" fmla="val 3721"/>
            </a:avLst>
          </a:prstGeom>
          <a:solidFill>
            <a:srgbClr val="F3F6FA"/>
          </a:solidFill>
          <a:ln/>
          <a:effectLst>
            <a:outerShdw sx="100000" sy="100000" kx="0" ky="0" algn="bl" rotWithShape="0" blurRad="127000" dist="38100" dir="2700000">
              <a:srgbClr val="0B1F3A">
                <a:alpha val="12000"/>
              </a:srgbClr>
            </a:outerShdw>
          </a:effectLst>
        </p:spPr>
      </p:sp>
      <p:sp>
        <p:nvSpPr>
          <p:cNvPr id="15" name="Shape 11"/>
          <p:cNvSpPr/>
          <p:nvPr/>
        </p:nvSpPr>
        <p:spPr>
          <a:xfrm>
            <a:off x="8275320" y="1892808"/>
            <a:ext cx="502920" cy="50292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8340700" y="1958188"/>
            <a:ext cx="372161" cy="372161"/>
          </a:xfrm>
          <a:prstGeom prst="rect">
            <a:avLst/>
          </a:prstGeom>
        </p:spPr>
      </p:pic>
      <p:sp>
        <p:nvSpPr>
          <p:cNvPr id="17" name="Text 12"/>
          <p:cNvSpPr/>
          <p:nvPr/>
        </p:nvSpPr>
        <p:spPr>
          <a:xfrm>
            <a:off x="8275320" y="2514600"/>
            <a:ext cx="3063240" cy="365760"/>
          </a:xfrm>
          <a:prstGeom prst="rect">
            <a:avLst/>
          </a:prstGeom>
          <a:noFill/>
          <a:ln/>
        </p:spPr>
        <p:txBody>
          <a:bodyPr wrap="square" lIns="0" tIns="0" rIns="0" bIns="0"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Geoffrey Hinton</a:t>
            </a:r>
            <a:endParaRPr lang="en-US" sz="1500" dirty="0"/>
          </a:p>
        </p:txBody>
      </p:sp>
      <p:sp>
        <p:nvSpPr>
          <p:cNvPr id="18" name="Text 13"/>
          <p:cNvSpPr/>
          <p:nvPr/>
        </p:nvSpPr>
        <p:spPr>
          <a:xfrm>
            <a:off x="8275320" y="2880360"/>
            <a:ext cx="3063240" cy="685800"/>
          </a:xfrm>
          <a:prstGeom prst="rect">
            <a:avLst/>
          </a:prstGeom>
          <a:noFill/>
          <a:ln/>
        </p:spPr>
        <p:txBody>
          <a:bodyPr wrap="square" lIns="0" tIns="0" rIns="0" bIns="0" rtlCol="0" anchor="ctr"/>
          <a:lstStyle/>
          <a:p>
            <a:pPr indent="0" marL="0">
              <a:lnSpc>
                <a:spcPct val="110000"/>
              </a:lnSpc>
              <a:buNone/>
            </a:pPr>
            <a:r>
              <a:rPr lang="en-US" sz="1050" dirty="0">
                <a:solidFill>
                  <a:srgbClr val="5B6B8C"/>
                </a:solidFill>
                <a:latin typeface="Calibri" pitchFamily="34" charset="0"/>
                <a:ea typeface="Calibri" pitchFamily="34" charset="-122"/>
                <a:cs typeface="Calibri" pitchFamily="34" charset="-120"/>
              </a:rPr>
              <a:t>“Godfather of AI” — backpropagation, CNNs, AlexNet</a:t>
            </a:r>
            <a:endParaRPr lang="en-US" sz="1050" dirty="0"/>
          </a:p>
        </p:txBody>
      </p:sp>
      <p:sp>
        <p:nvSpPr>
          <p:cNvPr id="19" name="Shape 14"/>
          <p:cNvSpPr/>
          <p:nvPr/>
        </p:nvSpPr>
        <p:spPr>
          <a:xfrm>
            <a:off x="640080" y="3886200"/>
            <a:ext cx="3520440" cy="1965960"/>
          </a:xfrm>
          <a:prstGeom prst="roundRect">
            <a:avLst>
              <a:gd name="adj" fmla="val 3721"/>
            </a:avLst>
          </a:prstGeom>
          <a:solidFill>
            <a:srgbClr val="F3F6FA"/>
          </a:solidFill>
          <a:ln/>
          <a:effectLst>
            <a:outerShdw sx="100000" sy="100000" kx="0" ky="0" algn="bl" rotWithShape="0" blurRad="127000" dist="38100" dir="2700000">
              <a:srgbClr val="0B1F3A">
                <a:alpha val="12000"/>
              </a:srgbClr>
            </a:outerShdw>
          </a:effectLst>
        </p:spPr>
      </p:sp>
      <p:sp>
        <p:nvSpPr>
          <p:cNvPr id="20" name="Shape 15"/>
          <p:cNvSpPr/>
          <p:nvPr/>
        </p:nvSpPr>
        <p:spPr>
          <a:xfrm>
            <a:off x="868680" y="4087368"/>
            <a:ext cx="502920" cy="502920"/>
          </a:xfrm>
          <a:prstGeom prst="ellipse">
            <a:avLst/>
          </a:prstGeom>
          <a:solidFill>
            <a:srgbClr val="FFFFFF"/>
          </a:solidFill>
          <a:ln/>
        </p:spPr>
      </p:sp>
      <p:pic>
        <p:nvPicPr>
          <p:cNvPr id="21" name="Image 3" descr="preencoded.png">    </p:cNvPr>
          <p:cNvPicPr>
            <a:picLocks noChangeAspect="1"/>
          </p:cNvPicPr>
          <p:nvPr/>
        </p:nvPicPr>
        <p:blipFill>
          <a:blip r:embed="rId4"/>
          <a:stretch>
            <a:fillRect/>
          </a:stretch>
        </p:blipFill>
        <p:spPr>
          <a:xfrm>
            <a:off x="934060" y="4152748"/>
            <a:ext cx="372161" cy="372161"/>
          </a:xfrm>
          <a:prstGeom prst="rect">
            <a:avLst/>
          </a:prstGeom>
        </p:spPr>
      </p:pic>
      <p:sp>
        <p:nvSpPr>
          <p:cNvPr id="22" name="Text 16"/>
          <p:cNvSpPr/>
          <p:nvPr/>
        </p:nvSpPr>
        <p:spPr>
          <a:xfrm>
            <a:off x="868680" y="4709160"/>
            <a:ext cx="3063240" cy="365760"/>
          </a:xfrm>
          <a:prstGeom prst="rect">
            <a:avLst/>
          </a:prstGeom>
          <a:noFill/>
          <a:ln/>
        </p:spPr>
        <p:txBody>
          <a:bodyPr wrap="square" lIns="0" tIns="0" rIns="0" bIns="0"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Fei-Fei Li</a:t>
            </a:r>
            <a:endParaRPr lang="en-US" sz="1500" dirty="0"/>
          </a:p>
        </p:txBody>
      </p:sp>
      <p:sp>
        <p:nvSpPr>
          <p:cNvPr id="23" name="Text 17"/>
          <p:cNvSpPr/>
          <p:nvPr/>
        </p:nvSpPr>
        <p:spPr>
          <a:xfrm>
            <a:off x="868680" y="5074920"/>
            <a:ext cx="3063240" cy="685800"/>
          </a:xfrm>
          <a:prstGeom prst="rect">
            <a:avLst/>
          </a:prstGeom>
          <a:noFill/>
          <a:ln/>
        </p:spPr>
        <p:txBody>
          <a:bodyPr wrap="square" lIns="0" tIns="0" rIns="0" bIns="0" rtlCol="0" anchor="ctr"/>
          <a:lstStyle/>
          <a:p>
            <a:pPr indent="0" marL="0">
              <a:lnSpc>
                <a:spcPct val="110000"/>
              </a:lnSpc>
              <a:buNone/>
            </a:pPr>
            <a:r>
              <a:rPr lang="en-US" sz="1050" dirty="0">
                <a:solidFill>
                  <a:srgbClr val="5B6B8C"/>
                </a:solidFill>
                <a:latin typeface="Calibri" pitchFamily="34" charset="0"/>
                <a:ea typeface="Calibri" pitchFamily="34" charset="-122"/>
                <a:cs typeface="Calibri" pitchFamily="34" charset="-120"/>
              </a:rPr>
              <a:t>Launched ImageNet, the dataset that enabled deep learning (2007)</a:t>
            </a:r>
            <a:endParaRPr lang="en-US" sz="1050" dirty="0"/>
          </a:p>
        </p:txBody>
      </p:sp>
      <p:sp>
        <p:nvSpPr>
          <p:cNvPr id="24" name="Shape 18"/>
          <p:cNvSpPr/>
          <p:nvPr/>
        </p:nvSpPr>
        <p:spPr>
          <a:xfrm>
            <a:off x="4343400" y="3886200"/>
            <a:ext cx="3520440" cy="1965960"/>
          </a:xfrm>
          <a:prstGeom prst="roundRect">
            <a:avLst>
              <a:gd name="adj" fmla="val 3721"/>
            </a:avLst>
          </a:prstGeom>
          <a:solidFill>
            <a:srgbClr val="F3F6FA"/>
          </a:solidFill>
          <a:ln/>
          <a:effectLst>
            <a:outerShdw sx="100000" sy="100000" kx="0" ky="0" algn="bl" rotWithShape="0" blurRad="127000" dist="38100" dir="2700000">
              <a:srgbClr val="0B1F3A">
                <a:alpha val="12000"/>
              </a:srgbClr>
            </a:outerShdw>
          </a:effectLst>
        </p:spPr>
      </p:sp>
      <p:sp>
        <p:nvSpPr>
          <p:cNvPr id="25" name="Shape 19"/>
          <p:cNvSpPr/>
          <p:nvPr/>
        </p:nvSpPr>
        <p:spPr>
          <a:xfrm>
            <a:off x="4572000" y="4087368"/>
            <a:ext cx="502920" cy="502920"/>
          </a:xfrm>
          <a:prstGeom prst="ellipse">
            <a:avLst/>
          </a:prstGeom>
          <a:solidFill>
            <a:srgbClr val="FFFFFF"/>
          </a:solidFill>
          <a:ln/>
        </p:spPr>
      </p:sp>
      <p:pic>
        <p:nvPicPr>
          <p:cNvPr id="26" name="Image 4" descr="preencoded.png">    </p:cNvPr>
          <p:cNvPicPr>
            <a:picLocks noChangeAspect="1"/>
          </p:cNvPicPr>
          <p:nvPr/>
        </p:nvPicPr>
        <p:blipFill>
          <a:blip r:embed="rId5"/>
          <a:stretch>
            <a:fillRect/>
          </a:stretch>
        </p:blipFill>
        <p:spPr>
          <a:xfrm>
            <a:off x="4637380" y="4152748"/>
            <a:ext cx="372161" cy="372161"/>
          </a:xfrm>
          <a:prstGeom prst="rect">
            <a:avLst/>
          </a:prstGeom>
        </p:spPr>
      </p:pic>
      <p:sp>
        <p:nvSpPr>
          <p:cNvPr id="27" name="Text 20"/>
          <p:cNvSpPr/>
          <p:nvPr/>
        </p:nvSpPr>
        <p:spPr>
          <a:xfrm>
            <a:off x="4572000" y="4709160"/>
            <a:ext cx="3063240" cy="365760"/>
          </a:xfrm>
          <a:prstGeom prst="rect">
            <a:avLst/>
          </a:prstGeom>
          <a:noFill/>
          <a:ln/>
        </p:spPr>
        <p:txBody>
          <a:bodyPr wrap="square" lIns="0" tIns="0" rIns="0" bIns="0"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Jensen Huang</a:t>
            </a:r>
            <a:endParaRPr lang="en-US" sz="1500" dirty="0"/>
          </a:p>
        </p:txBody>
      </p:sp>
      <p:sp>
        <p:nvSpPr>
          <p:cNvPr id="28" name="Text 21"/>
          <p:cNvSpPr/>
          <p:nvPr/>
        </p:nvSpPr>
        <p:spPr>
          <a:xfrm>
            <a:off x="4572000" y="5074920"/>
            <a:ext cx="3063240" cy="685800"/>
          </a:xfrm>
          <a:prstGeom prst="rect">
            <a:avLst/>
          </a:prstGeom>
          <a:noFill/>
          <a:ln/>
        </p:spPr>
        <p:txBody>
          <a:bodyPr wrap="square" lIns="0" tIns="0" rIns="0" bIns="0" rtlCol="0" anchor="ctr"/>
          <a:lstStyle/>
          <a:p>
            <a:pPr indent="0" marL="0">
              <a:lnSpc>
                <a:spcPct val="110000"/>
              </a:lnSpc>
              <a:buNone/>
            </a:pPr>
            <a:r>
              <a:rPr lang="en-US" sz="1050" dirty="0">
                <a:solidFill>
                  <a:srgbClr val="5B6B8C"/>
                </a:solidFill>
                <a:latin typeface="Calibri" pitchFamily="34" charset="0"/>
                <a:ea typeface="Calibri" pitchFamily="34" charset="-122"/>
                <a:cs typeface="Calibri" pitchFamily="34" charset="-120"/>
              </a:rPr>
              <a:t>Nvidia CEO who bet the company on AI-focused GPUs (2012)</a:t>
            </a:r>
            <a:endParaRPr lang="en-US" sz="1050" dirty="0"/>
          </a:p>
        </p:txBody>
      </p:sp>
      <p:sp>
        <p:nvSpPr>
          <p:cNvPr id="29" name="Shape 22"/>
          <p:cNvSpPr/>
          <p:nvPr/>
        </p:nvSpPr>
        <p:spPr>
          <a:xfrm>
            <a:off x="8046720" y="3886200"/>
            <a:ext cx="3520440" cy="1965960"/>
          </a:xfrm>
          <a:prstGeom prst="roundRect">
            <a:avLst>
              <a:gd name="adj" fmla="val 3721"/>
            </a:avLst>
          </a:prstGeom>
          <a:solidFill>
            <a:srgbClr val="F3F6FA"/>
          </a:solidFill>
          <a:ln/>
          <a:effectLst>
            <a:outerShdw sx="100000" sy="100000" kx="0" ky="0" algn="bl" rotWithShape="0" blurRad="127000" dist="38100" dir="2700000">
              <a:srgbClr val="0B1F3A">
                <a:alpha val="12000"/>
              </a:srgbClr>
            </a:outerShdw>
          </a:effectLst>
        </p:spPr>
      </p:sp>
      <p:sp>
        <p:nvSpPr>
          <p:cNvPr id="30" name="Shape 23"/>
          <p:cNvSpPr/>
          <p:nvPr/>
        </p:nvSpPr>
        <p:spPr>
          <a:xfrm>
            <a:off x="8275320" y="4087368"/>
            <a:ext cx="502920" cy="502920"/>
          </a:xfrm>
          <a:prstGeom prst="ellipse">
            <a:avLst/>
          </a:prstGeom>
          <a:solidFill>
            <a:srgbClr val="FFFFFF"/>
          </a:solidFill>
          <a:ln/>
        </p:spPr>
      </p:sp>
      <p:pic>
        <p:nvPicPr>
          <p:cNvPr id="31" name="Image 5" descr="preencoded.png">    </p:cNvPr>
          <p:cNvPicPr>
            <a:picLocks noChangeAspect="1"/>
          </p:cNvPicPr>
          <p:nvPr/>
        </p:nvPicPr>
        <p:blipFill>
          <a:blip r:embed="rId6"/>
          <a:stretch>
            <a:fillRect/>
          </a:stretch>
        </p:blipFill>
        <p:spPr>
          <a:xfrm>
            <a:off x="8340700" y="4152748"/>
            <a:ext cx="372161" cy="372161"/>
          </a:xfrm>
          <a:prstGeom prst="rect">
            <a:avLst/>
          </a:prstGeom>
        </p:spPr>
      </p:pic>
      <p:sp>
        <p:nvSpPr>
          <p:cNvPr id="32" name="Text 24"/>
          <p:cNvSpPr/>
          <p:nvPr/>
        </p:nvSpPr>
        <p:spPr>
          <a:xfrm>
            <a:off x="8275320" y="4709160"/>
            <a:ext cx="3063240" cy="365760"/>
          </a:xfrm>
          <a:prstGeom prst="rect">
            <a:avLst/>
          </a:prstGeom>
          <a:noFill/>
          <a:ln/>
        </p:spPr>
        <p:txBody>
          <a:bodyPr wrap="square" lIns="0" tIns="0" rIns="0" bIns="0"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Sam Altman</a:t>
            </a:r>
            <a:endParaRPr lang="en-US" sz="1500" dirty="0"/>
          </a:p>
        </p:txBody>
      </p:sp>
      <p:sp>
        <p:nvSpPr>
          <p:cNvPr id="33" name="Text 25"/>
          <p:cNvSpPr/>
          <p:nvPr/>
        </p:nvSpPr>
        <p:spPr>
          <a:xfrm>
            <a:off x="8275320" y="5074920"/>
            <a:ext cx="3063240" cy="685800"/>
          </a:xfrm>
          <a:prstGeom prst="rect">
            <a:avLst/>
          </a:prstGeom>
          <a:noFill/>
          <a:ln/>
        </p:spPr>
        <p:txBody>
          <a:bodyPr wrap="square" lIns="0" tIns="0" rIns="0" bIns="0" rtlCol="0" anchor="ctr"/>
          <a:lstStyle/>
          <a:p>
            <a:pPr indent="0" marL="0">
              <a:lnSpc>
                <a:spcPct val="110000"/>
              </a:lnSpc>
              <a:buNone/>
            </a:pPr>
            <a:r>
              <a:rPr lang="en-US" sz="1050" dirty="0">
                <a:solidFill>
                  <a:srgbClr val="5B6B8C"/>
                </a:solidFill>
                <a:latin typeface="Calibri" pitchFamily="34" charset="0"/>
                <a:ea typeface="Calibri" pitchFamily="34" charset="-122"/>
                <a:cs typeface="Calibri" pitchFamily="34" charset="-120"/>
              </a:rPr>
              <a:t>OpenAI CEO who led the launch of GPT and ChatGPT</a:t>
            </a:r>
            <a:endParaRPr lang="en-US" sz="1050" dirty="0"/>
          </a:p>
        </p:txBody>
      </p:sp>
      <p:sp>
        <p:nvSpPr>
          <p:cNvPr id="34" name="Text 26"/>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A8B3C7"/>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lIns="0" tIns="0" rIns="0" bIns="0" rtlCol="0" anchor="ctr"/>
          <a:lstStyle/>
          <a:p>
            <a:pPr indent="0" marL="0">
              <a:buNone/>
            </a:pPr>
            <a:r>
              <a:rPr lang="en-US" sz="1300" b="1" spc="200" kern="0" dirty="0">
                <a:solidFill>
                  <a:srgbClr val="0FB5C4"/>
                </a:solidFill>
                <a:latin typeface="Calibri" pitchFamily="34" charset="0"/>
                <a:ea typeface="Calibri" pitchFamily="34" charset="-122"/>
                <a:cs typeface="Calibri" pitchFamily="34" charset="-120"/>
              </a:rPr>
              <a:t>FRAMING THE FIELD</a:t>
            </a:r>
            <a:endParaRPr lang="en-US" sz="1300" dirty="0"/>
          </a:p>
        </p:txBody>
      </p:sp>
      <p:sp>
        <p:nvSpPr>
          <p:cNvPr id="3" name="Text 1"/>
          <p:cNvSpPr/>
          <p:nvPr/>
        </p:nvSpPr>
        <p:spPr>
          <a:xfrm>
            <a:off x="640080" y="777240"/>
            <a:ext cx="8229600" cy="64008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AI Stands Today</a:t>
            </a:r>
            <a:endParaRPr lang="en-US" sz="3200" dirty="0"/>
          </a:p>
        </p:txBody>
      </p:sp>
      <p:sp>
        <p:nvSpPr>
          <p:cNvPr id="4" name="Shape 2"/>
          <p:cNvSpPr/>
          <p:nvPr/>
        </p:nvSpPr>
        <p:spPr>
          <a:xfrm>
            <a:off x="640080" y="1645920"/>
            <a:ext cx="5212080" cy="4206240"/>
          </a:xfrm>
          <a:prstGeom prst="roundRect">
            <a:avLst>
              <a:gd name="adj" fmla="val 2174"/>
            </a:avLst>
          </a:prstGeom>
          <a:solidFill>
            <a:srgbClr val="F3F6FA"/>
          </a:solidFill>
          <a:ln/>
          <a:effectLst>
            <a:outerShdw sx="100000" sy="100000" kx="0" ky="0" algn="bl" rotWithShape="0" blurRad="127000" dist="38100" dir="2700000">
              <a:srgbClr val="0B1F3A">
                <a:alpha val="12000"/>
              </a:srgbClr>
            </a:outerShdw>
          </a:effectLst>
        </p:spPr>
      </p:sp>
      <p:sp>
        <p:nvSpPr>
          <p:cNvPr id="5" name="Shape 3"/>
          <p:cNvSpPr/>
          <p:nvPr/>
        </p:nvSpPr>
        <p:spPr>
          <a:xfrm>
            <a:off x="914400" y="1874520"/>
            <a:ext cx="640080" cy="64008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997610" y="1957730"/>
            <a:ext cx="473659" cy="473659"/>
          </a:xfrm>
          <a:prstGeom prst="rect">
            <a:avLst/>
          </a:prstGeom>
        </p:spPr>
      </p:pic>
      <p:sp>
        <p:nvSpPr>
          <p:cNvPr id="7" name="Text 4"/>
          <p:cNvSpPr/>
          <p:nvPr/>
        </p:nvSpPr>
        <p:spPr>
          <a:xfrm>
            <a:off x="914400" y="2651760"/>
            <a:ext cx="4572000" cy="365760"/>
          </a:xfrm>
          <a:prstGeom prst="rect">
            <a:avLst/>
          </a:prstGeom>
          <a:noFill/>
          <a:ln/>
        </p:spPr>
        <p:txBody>
          <a:bodyPr wrap="square" lIns="0" tIns="0" rIns="0" bIns="0" rtlCol="0" anchor="ctr"/>
          <a:lstStyle/>
          <a:p>
            <a:pPr indent="0" marL="0">
              <a:buNone/>
            </a:pPr>
            <a:r>
              <a:rPr lang="en-US" sz="1800" b="1" dirty="0">
                <a:solidFill>
                  <a:srgbClr val="16213E"/>
                </a:solidFill>
                <a:latin typeface="Calibri" pitchFamily="34" charset="0"/>
                <a:ea typeface="Calibri" pitchFamily="34" charset="-122"/>
                <a:cs typeface="Calibri" pitchFamily="34" charset="-120"/>
              </a:rPr>
              <a:t>Narrow AI</a:t>
            </a:r>
            <a:endParaRPr lang="en-US" sz="1800" dirty="0"/>
          </a:p>
        </p:txBody>
      </p:sp>
      <p:sp>
        <p:nvSpPr>
          <p:cNvPr id="8" name="Text 5"/>
          <p:cNvSpPr/>
          <p:nvPr/>
        </p:nvSpPr>
        <p:spPr>
          <a:xfrm>
            <a:off x="914400" y="3108960"/>
            <a:ext cx="4572000" cy="1188720"/>
          </a:xfrm>
          <a:prstGeom prst="rect">
            <a:avLst/>
          </a:prstGeom>
          <a:noFill/>
          <a:ln/>
        </p:spPr>
        <p:txBody>
          <a:bodyPr wrap="square" lIns="0" tIns="0" rIns="0" bIns="0" rtlCol="0" anchor="ctr"/>
          <a:lstStyle/>
          <a:p>
            <a:pPr indent="0" marL="0">
              <a:lnSpc>
                <a:spcPct val="120000"/>
              </a:lnSpc>
              <a:buNone/>
            </a:pPr>
            <a:r>
              <a:rPr lang="en-US" sz="1250" dirty="0">
                <a:solidFill>
                  <a:srgbClr val="5B6B8C"/>
                </a:solidFill>
                <a:latin typeface="Calibri" pitchFamily="34" charset="0"/>
                <a:ea typeface="Calibri" pitchFamily="34" charset="-122"/>
                <a:cs typeface="Calibri" pitchFamily="34" charset="-120"/>
              </a:rPr>
              <a:t>Every system built to date — recommendation engines, image recognition, ChatGPT — excels at bounded tasks but lacks general, flexible reasoning across domains.</a:t>
            </a:r>
            <a:endParaRPr lang="en-US" sz="1250" dirty="0"/>
          </a:p>
        </p:txBody>
      </p:sp>
      <p:sp>
        <p:nvSpPr>
          <p:cNvPr id="9" name="Shape 6"/>
          <p:cNvSpPr/>
          <p:nvPr/>
        </p:nvSpPr>
        <p:spPr>
          <a:xfrm>
            <a:off x="914400" y="4343400"/>
            <a:ext cx="914400" cy="0"/>
          </a:xfrm>
          <a:prstGeom prst="line">
            <a:avLst/>
          </a:prstGeom>
          <a:noFill/>
          <a:ln w="25400">
            <a:solidFill>
              <a:srgbClr val="0FB5C4"/>
            </a:solidFill>
            <a:prstDash val="solid"/>
          </a:ln>
        </p:spPr>
      </p:sp>
      <p:sp>
        <p:nvSpPr>
          <p:cNvPr id="10" name="Text 7"/>
          <p:cNvSpPr/>
          <p:nvPr/>
        </p:nvSpPr>
        <p:spPr>
          <a:xfrm>
            <a:off x="914400" y="4480560"/>
            <a:ext cx="4572000" cy="365760"/>
          </a:xfrm>
          <a:prstGeom prst="rect">
            <a:avLst/>
          </a:prstGeom>
          <a:noFill/>
          <a:ln/>
        </p:spPr>
        <p:txBody>
          <a:bodyPr wrap="square" lIns="0" tIns="0" rIns="0" bIns="0"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Artificial General Intelligence (AGI)</a:t>
            </a:r>
            <a:endParaRPr lang="en-US" sz="1500" dirty="0"/>
          </a:p>
        </p:txBody>
      </p:sp>
      <p:sp>
        <p:nvSpPr>
          <p:cNvPr id="11" name="Text 8"/>
          <p:cNvSpPr/>
          <p:nvPr/>
        </p:nvSpPr>
        <p:spPr>
          <a:xfrm>
            <a:off x="914400" y="4892040"/>
            <a:ext cx="4572000" cy="914400"/>
          </a:xfrm>
          <a:prstGeom prst="rect">
            <a:avLst/>
          </a:prstGeom>
          <a:noFill/>
          <a:ln/>
        </p:spPr>
        <p:txBody>
          <a:bodyPr wrap="square" lIns="0" tIns="0" rIns="0" bIns="0" rtlCol="0" anchor="ctr"/>
          <a:lstStyle/>
          <a:p>
            <a:pPr indent="0" marL="0">
              <a:lnSpc>
                <a:spcPct val="115000"/>
              </a:lnSpc>
              <a:buNone/>
            </a:pPr>
            <a:r>
              <a:rPr lang="en-US" sz="1150" dirty="0">
                <a:solidFill>
                  <a:srgbClr val="5B6B8C"/>
                </a:solidFill>
                <a:latin typeface="Calibri" pitchFamily="34" charset="0"/>
                <a:ea typeface="Calibri" pitchFamily="34" charset="-122"/>
                <a:cs typeface="Calibri" pitchFamily="34" charset="-120"/>
              </a:rPr>
              <a:t>A still-hypothetical system with human-level, cross-domain intelligence. Some researchers estimate a real chance of arrival within the next few decades — with wide uncertainty.</a:t>
            </a:r>
            <a:endParaRPr lang="en-US" sz="1150" dirty="0"/>
          </a:p>
        </p:txBody>
      </p:sp>
      <p:sp>
        <p:nvSpPr>
          <p:cNvPr id="12" name="Shape 9"/>
          <p:cNvSpPr/>
          <p:nvPr/>
        </p:nvSpPr>
        <p:spPr>
          <a:xfrm>
            <a:off x="6263640" y="1645920"/>
            <a:ext cx="5257800" cy="4206240"/>
          </a:xfrm>
          <a:prstGeom prst="roundRect">
            <a:avLst>
              <a:gd name="adj" fmla="val 2174"/>
            </a:avLst>
          </a:prstGeom>
          <a:solidFill>
            <a:srgbClr val="0B1F3A"/>
          </a:solidFill>
          <a:ln/>
        </p:spPr>
      </p:sp>
      <p:sp>
        <p:nvSpPr>
          <p:cNvPr id="13" name="Shape 10"/>
          <p:cNvSpPr/>
          <p:nvPr/>
        </p:nvSpPr>
        <p:spPr>
          <a:xfrm>
            <a:off x="6537960" y="1874520"/>
            <a:ext cx="640080" cy="640080"/>
          </a:xfrm>
          <a:prstGeom prst="ellipse">
            <a:avLst/>
          </a:prstGeom>
          <a:solidFill>
            <a:srgbClr val="13294B"/>
          </a:solidFill>
          <a:ln/>
        </p:spPr>
      </p:sp>
      <p:pic>
        <p:nvPicPr>
          <p:cNvPr id="14" name="Image 1" descr="preencoded.png">    </p:cNvPr>
          <p:cNvPicPr>
            <a:picLocks noChangeAspect="1"/>
          </p:cNvPicPr>
          <p:nvPr/>
        </p:nvPicPr>
        <p:blipFill>
          <a:blip r:embed="rId2"/>
          <a:stretch>
            <a:fillRect/>
          </a:stretch>
        </p:blipFill>
        <p:spPr>
          <a:xfrm>
            <a:off x="6621170" y="1957730"/>
            <a:ext cx="473659" cy="473659"/>
          </a:xfrm>
          <a:prstGeom prst="rect">
            <a:avLst/>
          </a:prstGeom>
        </p:spPr>
      </p:pic>
      <p:sp>
        <p:nvSpPr>
          <p:cNvPr id="15" name="Text 11"/>
          <p:cNvSpPr/>
          <p:nvPr/>
        </p:nvSpPr>
        <p:spPr>
          <a:xfrm>
            <a:off x="6537960" y="2651760"/>
            <a:ext cx="466344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What's Next: Quantum AI</a:t>
            </a:r>
            <a:endParaRPr lang="en-US" sz="1800" dirty="0"/>
          </a:p>
        </p:txBody>
      </p:sp>
      <p:sp>
        <p:nvSpPr>
          <p:cNvPr id="16" name="Text 12"/>
          <p:cNvSpPr/>
          <p:nvPr/>
        </p:nvSpPr>
        <p:spPr>
          <a:xfrm>
            <a:off x="6537960" y="3108960"/>
            <a:ext cx="4663440" cy="1645920"/>
          </a:xfrm>
          <a:prstGeom prst="rect">
            <a:avLst/>
          </a:prstGeom>
          <a:noFill/>
          <a:ln/>
        </p:spPr>
        <p:txBody>
          <a:bodyPr wrap="square" lIns="0" tIns="0" rIns="0" bIns="0" rtlCol="0" anchor="ctr"/>
          <a:lstStyle/>
          <a:p>
            <a:pPr indent="0" marL="0">
              <a:lnSpc>
                <a:spcPct val="120000"/>
              </a:lnSpc>
              <a:buNone/>
            </a:pPr>
            <a:r>
              <a:rPr lang="en-US" sz="1250" dirty="0">
                <a:solidFill>
                  <a:srgbClr val="CFE8F3"/>
                </a:solidFill>
                <a:latin typeface="Calibri" pitchFamily="34" charset="0"/>
                <a:ea typeface="Calibri" pitchFamily="34" charset="-122"/>
                <a:cs typeface="Calibri" pitchFamily="34" charset="-120"/>
              </a:rPr>
              <a:t>Researchers are exploring how quantum computing's superposition and entanglement could accelerate model training and optimization far beyond classical hardware — though the technology remains in its infancy, limited by qubit stability and error rates.</a:t>
            </a:r>
            <a:endParaRPr lang="en-US" sz="1250" dirty="0"/>
          </a:p>
        </p:txBody>
      </p:sp>
      <p:sp>
        <p:nvSpPr>
          <p:cNvPr id="17" name="Shape 13"/>
          <p:cNvSpPr/>
          <p:nvPr/>
        </p:nvSpPr>
        <p:spPr>
          <a:xfrm>
            <a:off x="6537960" y="4892040"/>
            <a:ext cx="914400" cy="0"/>
          </a:xfrm>
          <a:prstGeom prst="line">
            <a:avLst/>
          </a:prstGeom>
          <a:noFill/>
          <a:ln w="25400">
            <a:solidFill>
              <a:srgbClr val="0FB5C4"/>
            </a:solidFill>
            <a:prstDash val="solid"/>
          </a:ln>
        </p:spPr>
      </p:sp>
      <p:sp>
        <p:nvSpPr>
          <p:cNvPr id="18" name="Text 14"/>
          <p:cNvSpPr/>
          <p:nvPr/>
        </p:nvSpPr>
        <p:spPr>
          <a:xfrm>
            <a:off x="6537960" y="5029200"/>
            <a:ext cx="4663440" cy="777240"/>
          </a:xfrm>
          <a:prstGeom prst="rect">
            <a:avLst/>
          </a:prstGeom>
          <a:noFill/>
          <a:ln/>
        </p:spPr>
        <p:txBody>
          <a:bodyPr wrap="square" lIns="0" tIns="0" rIns="0" bIns="0" rtlCol="0" anchor="ctr"/>
          <a:lstStyle/>
          <a:p>
            <a:pPr indent="0" marL="0">
              <a:buNone/>
            </a:pPr>
            <a:r>
              <a:rPr lang="en-US" sz="1150" i="1" dirty="0">
                <a:solidFill>
                  <a:srgbClr val="CFE8F3"/>
                </a:solidFill>
                <a:latin typeface="Calibri" pitchFamily="34" charset="0"/>
                <a:ea typeface="Calibri" pitchFamily="34" charset="-122"/>
                <a:cs typeface="Calibri" pitchFamily="34" charset="-120"/>
              </a:rPr>
              <a:t>The same pattern repeats: a foundational idea, then years of engineering, before the breakthrough arrives.</a:t>
            </a:r>
            <a:endParaRPr lang="en-US" sz="1150" dirty="0"/>
          </a:p>
        </p:txBody>
      </p:sp>
      <p:sp>
        <p:nvSpPr>
          <p:cNvPr id="19" name="Text 15"/>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A8B3C7"/>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10607040" y="914400"/>
            <a:ext cx="54864" cy="54864"/>
          </a:xfrm>
          <a:prstGeom prst="ellipse">
            <a:avLst/>
          </a:prstGeom>
          <a:solidFill>
            <a:srgbClr val="0FB5C4"/>
          </a:solidFill>
          <a:ln/>
        </p:spPr>
      </p:sp>
      <p:sp>
        <p:nvSpPr>
          <p:cNvPr id="3" name="Shape 1"/>
          <p:cNvSpPr/>
          <p:nvPr/>
        </p:nvSpPr>
        <p:spPr>
          <a:xfrm>
            <a:off x="11247120" y="1554480"/>
            <a:ext cx="54864" cy="54864"/>
          </a:xfrm>
          <a:prstGeom prst="ellipse">
            <a:avLst/>
          </a:prstGeom>
          <a:solidFill>
            <a:srgbClr val="0FB5C4"/>
          </a:solidFill>
          <a:ln/>
        </p:spPr>
      </p:sp>
      <p:sp>
        <p:nvSpPr>
          <p:cNvPr id="4" name="Shape 2"/>
          <p:cNvSpPr/>
          <p:nvPr/>
        </p:nvSpPr>
        <p:spPr>
          <a:xfrm>
            <a:off x="9966960" y="1645920"/>
            <a:ext cx="54864" cy="54864"/>
          </a:xfrm>
          <a:prstGeom prst="ellipse">
            <a:avLst/>
          </a:prstGeom>
          <a:solidFill>
            <a:srgbClr val="0FB5C4"/>
          </a:solidFill>
          <a:ln/>
        </p:spPr>
      </p:sp>
      <p:sp>
        <p:nvSpPr>
          <p:cNvPr id="5" name="Shape 3"/>
          <p:cNvSpPr/>
          <p:nvPr/>
        </p:nvSpPr>
        <p:spPr>
          <a:xfrm>
            <a:off x="822960" y="5760720"/>
            <a:ext cx="54864" cy="54864"/>
          </a:xfrm>
          <a:prstGeom prst="ellipse">
            <a:avLst/>
          </a:prstGeom>
          <a:solidFill>
            <a:srgbClr val="0FB5C4"/>
          </a:solidFill>
          <a:ln/>
        </p:spPr>
      </p:sp>
      <p:sp>
        <p:nvSpPr>
          <p:cNvPr id="6" name="Shape 4"/>
          <p:cNvSpPr/>
          <p:nvPr/>
        </p:nvSpPr>
        <p:spPr>
          <a:xfrm>
            <a:off x="1463040" y="6217920"/>
            <a:ext cx="54864" cy="54864"/>
          </a:xfrm>
          <a:prstGeom prst="ellipse">
            <a:avLst/>
          </a:prstGeom>
          <a:solidFill>
            <a:srgbClr val="0FB5C4"/>
          </a:solidFill>
          <a:ln/>
        </p:spPr>
      </p:sp>
      <p:sp>
        <p:nvSpPr>
          <p:cNvPr id="7" name="Shape 5"/>
          <p:cNvSpPr/>
          <p:nvPr/>
        </p:nvSpPr>
        <p:spPr>
          <a:xfrm>
            <a:off x="822960" y="685800"/>
            <a:ext cx="822960" cy="822960"/>
          </a:xfrm>
          <a:prstGeom prst="ellipse">
            <a:avLst/>
          </a:prstGeom>
          <a:solidFill>
            <a:srgbClr val="13294B"/>
          </a:solidFill>
          <a:ln/>
        </p:spPr>
      </p:sp>
      <p:pic>
        <p:nvPicPr>
          <p:cNvPr id="8" name="Image 0" descr="preencoded.png">    </p:cNvPr>
          <p:cNvPicPr>
            <a:picLocks noChangeAspect="1"/>
          </p:cNvPicPr>
          <p:nvPr/>
        </p:nvPicPr>
        <p:blipFill>
          <a:blip r:embed="rId1"/>
          <a:stretch>
            <a:fillRect/>
          </a:stretch>
        </p:blipFill>
        <p:spPr>
          <a:xfrm>
            <a:off x="929945" y="792785"/>
            <a:ext cx="608990" cy="608990"/>
          </a:xfrm>
          <a:prstGeom prst="rect">
            <a:avLst/>
          </a:prstGeom>
        </p:spPr>
      </p:pic>
      <p:sp>
        <p:nvSpPr>
          <p:cNvPr id="9" name="Text 6"/>
          <p:cNvSpPr/>
          <p:nvPr/>
        </p:nvSpPr>
        <p:spPr>
          <a:xfrm>
            <a:off x="822960" y="1691640"/>
            <a:ext cx="8229600" cy="320040"/>
          </a:xfrm>
          <a:prstGeom prst="rect">
            <a:avLst/>
          </a:prstGeom>
          <a:noFill/>
          <a:ln/>
        </p:spPr>
        <p:txBody>
          <a:bodyPr wrap="square" lIns="0" tIns="0" rIns="0" bIns="0" rtlCol="0" anchor="ctr"/>
          <a:lstStyle/>
          <a:p>
            <a:pPr indent="0" marL="0">
              <a:buNone/>
            </a:pPr>
            <a:r>
              <a:rPr lang="en-US" sz="1300" b="1" spc="200" kern="0" dirty="0">
                <a:solidFill>
                  <a:srgbClr val="0FB5C4"/>
                </a:solidFill>
                <a:latin typeface="Calibri" pitchFamily="34" charset="0"/>
                <a:ea typeface="Calibri" pitchFamily="34" charset="-122"/>
                <a:cs typeface="Calibri" pitchFamily="34" charset="-120"/>
              </a:rPr>
              <a:t>SEVENTY-FIVE YEARS IN THE MAKING</a:t>
            </a:r>
            <a:endParaRPr lang="en-US" sz="1300" dirty="0"/>
          </a:p>
        </p:txBody>
      </p:sp>
      <p:sp>
        <p:nvSpPr>
          <p:cNvPr id="10" name="Text 7"/>
          <p:cNvSpPr/>
          <p:nvPr/>
        </p:nvSpPr>
        <p:spPr>
          <a:xfrm>
            <a:off x="822960" y="2057400"/>
            <a:ext cx="100584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From a Wartime Question to a Global Race</a:t>
            </a:r>
            <a:endParaRPr lang="en-US" sz="3200" dirty="0"/>
          </a:p>
        </p:txBody>
      </p:sp>
      <p:sp>
        <p:nvSpPr>
          <p:cNvPr id="11" name="Text 8"/>
          <p:cNvSpPr/>
          <p:nvPr/>
        </p:nvSpPr>
        <p:spPr>
          <a:xfrm>
            <a:off x="822960" y="2971800"/>
            <a:ext cx="7498080" cy="1371600"/>
          </a:xfrm>
          <a:prstGeom prst="rect">
            <a:avLst/>
          </a:prstGeom>
          <a:noFill/>
          <a:ln/>
        </p:spPr>
        <p:txBody>
          <a:bodyPr wrap="square" lIns="0" tIns="0" rIns="0" bIns="0" rtlCol="0" anchor="ctr"/>
          <a:lstStyle/>
          <a:p>
            <a:pPr indent="0" marL="0">
              <a:lnSpc>
                <a:spcPct val="125000"/>
              </a:lnSpc>
              <a:buNone/>
            </a:pPr>
            <a:r>
              <a:rPr lang="en-US" sz="1500" dirty="0">
                <a:solidFill>
                  <a:srgbClr val="CFE8F3"/>
                </a:solidFill>
                <a:latin typeface="Calibri" pitchFamily="34" charset="0"/>
                <a:ea typeface="Calibri" pitchFamily="34" charset="-122"/>
                <a:cs typeface="Calibri" pitchFamily="34" charset="-120"/>
              </a:rPr>
              <a:t>AI's history is not a straight line — it is a cycle of bold promises, hard winters, and quiet breakthroughs that eventually compound into revolutions. Each era's hardware and data limits shaped what was possible, until 2012 finally aligned algorithms, data, and compute at scale.</a:t>
            </a:r>
            <a:endParaRPr lang="en-US" sz="1500" dirty="0"/>
          </a:p>
        </p:txBody>
      </p:sp>
      <p:sp>
        <p:nvSpPr>
          <p:cNvPr id="12" name="Shape 9"/>
          <p:cNvSpPr/>
          <p:nvPr/>
        </p:nvSpPr>
        <p:spPr>
          <a:xfrm>
            <a:off x="822960" y="4434840"/>
            <a:ext cx="1371600" cy="0"/>
          </a:xfrm>
          <a:prstGeom prst="line">
            <a:avLst/>
          </a:prstGeom>
          <a:noFill/>
          <a:ln w="38100">
            <a:solidFill>
              <a:srgbClr val="FF7A30"/>
            </a:solidFill>
            <a:prstDash val="solid"/>
          </a:ln>
        </p:spPr>
      </p:sp>
      <p:sp>
        <p:nvSpPr>
          <p:cNvPr id="13" name="Text 10"/>
          <p:cNvSpPr/>
          <p:nvPr/>
        </p:nvSpPr>
        <p:spPr>
          <a:xfrm>
            <a:off x="822960" y="4617720"/>
            <a:ext cx="7498080" cy="822960"/>
          </a:xfrm>
          <a:prstGeom prst="rect">
            <a:avLst/>
          </a:prstGeom>
          <a:noFill/>
          <a:ln/>
        </p:spPr>
        <p:txBody>
          <a:bodyPr wrap="square" lIns="0" tIns="0" rIns="0" bIns="0" rtlCol="0" anchor="ctr"/>
          <a:lstStyle/>
          <a:p>
            <a:pPr indent="0" marL="0">
              <a:buNone/>
            </a:pPr>
            <a:r>
              <a:rPr lang="en-US" sz="1400" i="1" dirty="0">
                <a:solidFill>
                  <a:srgbClr val="FFFFFF"/>
                </a:solidFill>
                <a:latin typeface="Cambria" pitchFamily="34" charset="0"/>
                <a:ea typeface="Cambria" pitchFamily="34" charset="-122"/>
                <a:cs typeface="Cambria" pitchFamily="34" charset="-120"/>
              </a:rPr>
              <a:t>The open question now is whether the next winter still lies ahead — or whether the field has finally built a foundation that lasts.</a:t>
            </a:r>
            <a:endParaRPr lang="en-US" sz="1400" dirty="0"/>
          </a:p>
        </p:txBody>
      </p:sp>
      <p:sp>
        <p:nvSpPr>
          <p:cNvPr id="14" name="Text 11"/>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6E85AD"/>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lIns="0" tIns="0" rIns="0" bIns="0" rtlCol="0" anchor="ctr"/>
          <a:lstStyle/>
          <a:p>
            <a:pPr indent="0" marL="0">
              <a:buNone/>
            </a:pPr>
            <a:r>
              <a:rPr lang="en-US" sz="1300" b="1" spc="200" kern="0" dirty="0">
                <a:solidFill>
                  <a:srgbClr val="0FB5C4"/>
                </a:solidFill>
                <a:latin typeface="Calibri" pitchFamily="34" charset="0"/>
                <a:ea typeface="Calibri" pitchFamily="34" charset="-122"/>
                <a:cs typeface="Calibri" pitchFamily="34" charset="-120"/>
              </a:rPr>
              <a:t>REFERENCES</a:t>
            </a:r>
            <a:endParaRPr lang="en-US" sz="1300" dirty="0"/>
          </a:p>
        </p:txBody>
      </p:sp>
      <p:sp>
        <p:nvSpPr>
          <p:cNvPr id="3" name="Text 1"/>
          <p:cNvSpPr/>
          <p:nvPr/>
        </p:nvSpPr>
        <p:spPr>
          <a:xfrm>
            <a:off x="640080" y="777240"/>
            <a:ext cx="8229600" cy="64008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Sources</a:t>
            </a:r>
            <a:endParaRPr lang="en-US" sz="3200" dirty="0"/>
          </a:p>
        </p:txBody>
      </p:sp>
      <p:sp>
        <p:nvSpPr>
          <p:cNvPr id="4" name="Shape 2"/>
          <p:cNvSpPr/>
          <p:nvPr/>
        </p:nvSpPr>
        <p:spPr>
          <a:xfrm>
            <a:off x="640080" y="1810512"/>
            <a:ext cx="91440" cy="91440"/>
          </a:xfrm>
          <a:prstGeom prst="ellipse">
            <a:avLst/>
          </a:prstGeom>
          <a:solidFill>
            <a:srgbClr val="0FB5C4"/>
          </a:solidFill>
          <a:ln/>
        </p:spPr>
      </p:sp>
      <p:sp>
        <p:nvSpPr>
          <p:cNvPr id="5" name="Text 3"/>
          <p:cNvSpPr/>
          <p:nvPr/>
        </p:nvSpPr>
        <p:spPr>
          <a:xfrm>
            <a:off x="868680" y="1691640"/>
            <a:ext cx="10241280" cy="54864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Put You On. (2024, May 30). The entire history of artificial intelligence (last 100 years) [Video]. YouTube.</a:t>
            </a:r>
            <a:endParaRPr lang="en-US" sz="1300" dirty="0"/>
          </a:p>
        </p:txBody>
      </p:sp>
      <p:sp>
        <p:nvSpPr>
          <p:cNvPr id="6" name="Shape 4"/>
          <p:cNvSpPr/>
          <p:nvPr/>
        </p:nvSpPr>
        <p:spPr>
          <a:xfrm>
            <a:off x="640080" y="2587752"/>
            <a:ext cx="91440" cy="91440"/>
          </a:xfrm>
          <a:prstGeom prst="ellipse">
            <a:avLst/>
          </a:prstGeom>
          <a:solidFill>
            <a:srgbClr val="0FB5C4"/>
          </a:solidFill>
          <a:ln/>
        </p:spPr>
      </p:sp>
      <p:sp>
        <p:nvSpPr>
          <p:cNvPr id="7" name="Text 5"/>
          <p:cNvSpPr/>
          <p:nvPr/>
        </p:nvSpPr>
        <p:spPr>
          <a:xfrm>
            <a:off x="868680" y="2468880"/>
            <a:ext cx="10241280" cy="54864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IEEE Computer Society. (2025). The evolution of AI: From foundations to future prospects.</a:t>
            </a:r>
            <a:endParaRPr lang="en-US" sz="1300" dirty="0"/>
          </a:p>
        </p:txBody>
      </p:sp>
      <p:sp>
        <p:nvSpPr>
          <p:cNvPr id="8" name="Shape 6"/>
          <p:cNvSpPr/>
          <p:nvPr/>
        </p:nvSpPr>
        <p:spPr>
          <a:xfrm>
            <a:off x="640080" y="3364992"/>
            <a:ext cx="91440" cy="91440"/>
          </a:xfrm>
          <a:prstGeom prst="ellipse">
            <a:avLst/>
          </a:prstGeom>
          <a:solidFill>
            <a:srgbClr val="0FB5C4"/>
          </a:solidFill>
          <a:ln/>
        </p:spPr>
      </p:sp>
      <p:sp>
        <p:nvSpPr>
          <p:cNvPr id="9" name="Text 7"/>
          <p:cNvSpPr/>
          <p:nvPr/>
        </p:nvSpPr>
        <p:spPr>
          <a:xfrm>
            <a:off x="868680" y="3246120"/>
            <a:ext cx="10241280" cy="54864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Roser, M. (2022). The brief history of artificial intelligence: The world has changed fast — what might be next? Our World in Data.</a:t>
            </a:r>
            <a:endParaRPr lang="en-US" sz="1300" dirty="0"/>
          </a:p>
        </p:txBody>
      </p:sp>
      <p:sp>
        <p:nvSpPr>
          <p:cNvPr id="10" name="Shape 8"/>
          <p:cNvSpPr/>
          <p:nvPr/>
        </p:nvSpPr>
        <p:spPr>
          <a:xfrm>
            <a:off x="640080" y="4142232"/>
            <a:ext cx="91440" cy="91440"/>
          </a:xfrm>
          <a:prstGeom prst="ellipse">
            <a:avLst/>
          </a:prstGeom>
          <a:solidFill>
            <a:srgbClr val="0FB5C4"/>
          </a:solidFill>
          <a:ln/>
        </p:spPr>
      </p:sp>
      <p:sp>
        <p:nvSpPr>
          <p:cNvPr id="11" name="Text 9"/>
          <p:cNvSpPr/>
          <p:nvPr/>
        </p:nvSpPr>
        <p:spPr>
          <a:xfrm>
            <a:off x="868680" y="4023360"/>
            <a:ext cx="10241280" cy="54864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Wikipedia contributors. AI winter. Wikipedia, The Free Encyclopedia.</a:t>
            </a:r>
            <a:endParaRPr lang="en-US" sz="1300" dirty="0"/>
          </a:p>
        </p:txBody>
      </p:sp>
      <p:sp>
        <p:nvSpPr>
          <p:cNvPr id="12" name="Shape 10"/>
          <p:cNvSpPr/>
          <p:nvPr/>
        </p:nvSpPr>
        <p:spPr>
          <a:xfrm>
            <a:off x="640080" y="4919472"/>
            <a:ext cx="91440" cy="91440"/>
          </a:xfrm>
          <a:prstGeom prst="ellipse">
            <a:avLst/>
          </a:prstGeom>
          <a:solidFill>
            <a:srgbClr val="0FB5C4"/>
          </a:solidFill>
          <a:ln/>
        </p:spPr>
      </p:sp>
      <p:sp>
        <p:nvSpPr>
          <p:cNvPr id="13" name="Text 11"/>
          <p:cNvSpPr/>
          <p:nvPr/>
        </p:nvSpPr>
        <p:spPr>
          <a:xfrm>
            <a:off x="868680" y="4800600"/>
            <a:ext cx="10241280" cy="54864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Lighthill, J. (1973). Artificial intelligence: A general survey. Science Research Council.</a:t>
            </a:r>
            <a:endParaRPr lang="en-US" sz="1300" dirty="0"/>
          </a:p>
        </p:txBody>
      </p:sp>
      <p:sp>
        <p:nvSpPr>
          <p:cNvPr id="14" name="Text 12"/>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A8B3C7"/>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Evolution of Artificial Intelligence</dc:title>
  <dc:subject>PptxGenJS Presentation</dc:subject>
  <dc:creator>ML Fundamentals</dc:creator>
  <cp:lastModifiedBy>ML Fundamentals</cp:lastModifiedBy>
  <cp:revision>1</cp:revision>
  <dcterms:created xsi:type="dcterms:W3CDTF">2026-07-05T17:14:11Z</dcterms:created>
  <dcterms:modified xsi:type="dcterms:W3CDTF">2026-07-05T17:14:11Z</dcterms:modified>
</cp:coreProperties>
</file>